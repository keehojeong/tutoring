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890" r:id="rId1"/>
  </p:sldMasterIdLst>
  <p:notesMasterIdLst>
    <p:notesMasterId r:id="rId17"/>
  </p:notesMasterIdLst>
  <p:handoutMasterIdLst>
    <p:handoutMasterId r:id="rId18"/>
  </p:handoutMasterIdLst>
  <p:sldIdLst>
    <p:sldId id="257" r:id="rId2"/>
    <p:sldId id="729" r:id="rId3"/>
    <p:sldId id="823" r:id="rId4"/>
    <p:sldId id="877" r:id="rId5"/>
    <p:sldId id="881" r:id="rId6"/>
    <p:sldId id="898" r:id="rId7"/>
    <p:sldId id="309" r:id="rId8"/>
    <p:sldId id="888" r:id="rId9"/>
    <p:sldId id="901" r:id="rId10"/>
    <p:sldId id="902" r:id="rId11"/>
    <p:sldId id="903" r:id="rId12"/>
    <p:sldId id="905" r:id="rId13"/>
    <p:sldId id="906" r:id="rId14"/>
    <p:sldId id="907" r:id="rId15"/>
    <p:sldId id="908" r:id="rId16"/>
  </p:sldIdLst>
  <p:sldSz cx="9906000" cy="6858000" type="A4"/>
  <p:notesSz cx="7102475" cy="10234613"/>
  <p:defaultTextStyle>
    <a:defPPr>
      <a:defRPr lang="ko-KR"/>
    </a:defPPr>
    <a:lvl1pPr marL="0" algn="l" defTabSz="91430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3" algn="l" defTabSz="91430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07" algn="l" defTabSz="91430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60" algn="l" defTabSz="91430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14" algn="l" defTabSz="91430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67" algn="l" defTabSz="91430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21" algn="l" defTabSz="91430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74" algn="l" defTabSz="91430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28" algn="l" defTabSz="91430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5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vuno" initials="n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D9E3"/>
    <a:srgbClr val="F1F7F9"/>
    <a:srgbClr val="F2E6E6"/>
    <a:srgbClr val="98C4D4"/>
    <a:srgbClr val="3681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62269" autoAdjust="0"/>
  </p:normalViewPr>
  <p:slideViewPr>
    <p:cSldViewPr>
      <p:cViewPr varScale="1">
        <p:scale>
          <a:sx n="51" d="100"/>
          <a:sy n="51" d="100"/>
        </p:scale>
        <p:origin x="336" y="3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61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00" d="100"/>
          <a:sy n="100" d="100"/>
        </p:scale>
        <p:origin x="-2832" y="-72"/>
      </p:cViewPr>
      <p:guideLst>
        <p:guide orient="horz" pos="3225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3"/>
            <a:ext cx="3077739" cy="511731"/>
          </a:xfrm>
          <a:prstGeom prst="rect">
            <a:avLst/>
          </a:prstGeom>
        </p:spPr>
        <p:txBody>
          <a:bodyPr vert="horz" lIns="92661" tIns="46331" rIns="92661" bIns="46331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093" y="3"/>
            <a:ext cx="3077739" cy="511731"/>
          </a:xfrm>
          <a:prstGeom prst="rect">
            <a:avLst/>
          </a:prstGeom>
        </p:spPr>
        <p:txBody>
          <a:bodyPr vert="horz" lIns="92661" tIns="46331" rIns="92661" bIns="46331" rtlCol="0"/>
          <a:lstStyle>
            <a:lvl1pPr algn="r">
              <a:defRPr sz="1100"/>
            </a:lvl1pPr>
          </a:lstStyle>
          <a:p>
            <a:fld id="{56DA1787-7BF6-41AB-8353-804FA7863779}" type="datetimeFigureOut">
              <a:rPr lang="ko-KR" altLang="en-US" smtClean="0"/>
              <a:pPr/>
              <a:t>2020-11-11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093" y="9721110"/>
            <a:ext cx="3077739" cy="511731"/>
          </a:xfrm>
          <a:prstGeom prst="rect">
            <a:avLst/>
          </a:prstGeom>
        </p:spPr>
        <p:txBody>
          <a:bodyPr vert="horz" lIns="92661" tIns="46331" rIns="92661" bIns="46331" rtlCol="0" anchor="b"/>
          <a:lstStyle>
            <a:lvl1pPr algn="r">
              <a:defRPr sz="1100"/>
            </a:lvl1pPr>
          </a:lstStyle>
          <a:p>
            <a:fld id="{4D8C6033-C250-4F94-9526-CBD7540235E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2"/>
          </p:nvPr>
        </p:nvSpPr>
        <p:spPr>
          <a:xfrm>
            <a:off x="0" y="9720437"/>
            <a:ext cx="3077739" cy="512490"/>
          </a:xfrm>
          <a:prstGeom prst="rect">
            <a:avLst/>
          </a:prstGeom>
        </p:spPr>
        <p:txBody>
          <a:bodyPr vert="horz" lIns="93955" tIns="46977" rIns="93955" bIns="4697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7164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직선 연결선 13"/>
          <p:cNvCxnSpPr/>
          <p:nvPr/>
        </p:nvCxnSpPr>
        <p:spPr>
          <a:xfrm>
            <a:off x="1417522" y="5083831"/>
            <a:ext cx="5239289" cy="828"/>
          </a:xfrm>
          <a:prstGeom prst="line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모서리가 둥근 직사각형 14"/>
          <p:cNvSpPr/>
          <p:nvPr/>
        </p:nvSpPr>
        <p:spPr>
          <a:xfrm>
            <a:off x="467558" y="4992555"/>
            <a:ext cx="1038933" cy="19086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07" tIns="44703" rIns="89407" bIns="44703" rtlCol="0" anchor="ctr"/>
          <a:lstStyle/>
          <a:p>
            <a:pPr algn="ctr"/>
            <a:r>
              <a:rPr lang="en-US" altLang="ko-KR" sz="1300" b="1" dirty="0"/>
              <a:t>Note</a:t>
            </a:r>
            <a:endParaRPr lang="ko-KR" altLang="en-US" sz="1300" b="1" dirty="0"/>
          </a:p>
        </p:txBody>
      </p:sp>
      <p:sp>
        <p:nvSpPr>
          <p:cNvPr id="13" name="슬라이드 이미지 개체 틀 12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490538"/>
            <a:ext cx="6343650" cy="4392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55" tIns="46977" rIns="93955" bIns="46977" rtlCol="0" anchor="ctr"/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17" name="슬라이드 노트 개체 틀 16"/>
          <p:cNvSpPr>
            <a:spLocks noGrp="1"/>
          </p:cNvSpPr>
          <p:nvPr>
            <p:ph type="body" sz="quarter" idx="3"/>
          </p:nvPr>
        </p:nvSpPr>
        <p:spPr>
          <a:xfrm>
            <a:off x="443883" y="5269033"/>
            <a:ext cx="6214709" cy="4551745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lIns="93955" tIns="46977" rIns="93955" bIns="46977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491237" y="9896639"/>
            <a:ext cx="6167355" cy="2275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07" tIns="44703" rIns="89407" bIns="44703"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455793" y="9929007"/>
            <a:ext cx="6202799" cy="14685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07" tIns="44703" rIns="89407" bIns="44703" rtlCol="0" anchor="ctr"/>
          <a:lstStyle/>
          <a:p>
            <a:pPr algn="l"/>
            <a:r>
              <a:rPr lang="en-US" altLang="ko-KR" sz="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pitchFamily="34" charset="0"/>
                <a:ea typeface="HY나무L" pitchFamily="18" charset="-127"/>
                <a:cs typeface="Arial Unicode MS" pitchFamily="50" charset="-127"/>
              </a:rPr>
              <a:t>Copyright</a:t>
            </a:r>
            <a:r>
              <a:rPr lang="en-US" altLang="ko-KR" sz="900" b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pitchFamily="34" charset="0"/>
                <a:ea typeface="HY나무L" pitchFamily="18" charset="-127"/>
                <a:cs typeface="Arial Unicode MS" pitchFamily="50" charset="-127"/>
              </a:rPr>
              <a:t> © 2008 All Rights Reserved By Hackers College Inc. Reproduction is strictly PROHIBITED</a:t>
            </a:r>
            <a:endParaRPr lang="en-US" altLang="ko-KR" sz="900" b="0" dirty="0">
              <a:solidFill>
                <a:schemeClr val="tx1">
                  <a:lumMod val="95000"/>
                  <a:lumOff val="5000"/>
                </a:schemeClr>
              </a:solidFill>
              <a:latin typeface="Century Gothic" pitchFamily="34" charset="0"/>
              <a:ea typeface="HY나무L" pitchFamily="18" charset="-127"/>
              <a:cs typeface="Arial Unicode MS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198098" y="9874724"/>
            <a:ext cx="386511" cy="257747"/>
          </a:xfrm>
          <a:prstGeom prst="rect">
            <a:avLst/>
          </a:prstGeom>
        </p:spPr>
        <p:txBody>
          <a:bodyPr vert="horz" lIns="92661" tIns="46331" rIns="92661" bIns="46331" rtlCol="0" anchor="b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66D8842C-7A3A-4B3A-9C5D-705AA924AB9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34961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07" rtl="0" eaLnBrk="1" latinLnBrk="1" hangingPunct="1">
      <a:lnSpc>
        <a:spcPts val="1600"/>
      </a:lnSpc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457153" algn="l" defTabSz="914307" rtl="0" eaLnBrk="1" latinLnBrk="1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914307" algn="l" defTabSz="914307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371460" algn="l" defTabSz="91430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14" algn="l" defTabSz="91430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67" algn="l" defTabSz="91430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21" algn="l" defTabSz="91430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74" algn="l" defTabSz="91430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28" algn="l" defTabSz="91430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77825" y="488950"/>
            <a:ext cx="6346825" cy="43942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본격적으로 </a:t>
            </a:r>
            <a:r>
              <a:rPr lang="ko-KR" altLang="en-US" dirty="0" err="1"/>
              <a:t>튜터링</a:t>
            </a:r>
            <a:r>
              <a:rPr lang="ko-KR" altLang="en-US" dirty="0"/>
              <a:t> 시작하겠습니다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D8842C-7A3A-4B3A-9C5D-705AA924AB9F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2375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79413" y="490538"/>
            <a:ext cx="6343650" cy="439261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우선 저번 학기에 배운 부분 중 여러분이 어려워 하신 절대 자바 기준 </a:t>
            </a:r>
            <a:r>
              <a:rPr lang="en-US" altLang="ko-KR" dirty="0"/>
              <a:t>5</a:t>
            </a:r>
            <a:r>
              <a:rPr lang="ko-KR" altLang="en-US" dirty="0"/>
              <a:t>장 즉</a:t>
            </a:r>
            <a:r>
              <a:rPr lang="en-US" altLang="ko-KR" dirty="0"/>
              <a:t>, </a:t>
            </a:r>
            <a:r>
              <a:rPr lang="ko-KR" altLang="en-US" dirty="0"/>
              <a:t>추상화부터 복습을 해보려고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D8842C-7A3A-4B3A-9C5D-705AA924AB9F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7103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77825" y="488950"/>
            <a:ext cx="6346825" cy="43942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D8842C-7A3A-4B3A-9C5D-705AA924AB9F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0461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79413" y="490538"/>
            <a:ext cx="6343650" cy="439261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추상화의 사전적 정의를 보면 구체적 사물들의 공통된 특징을 파악하여 인식의 대상으로 삼는 행위를 뜻한다고 합니다</a:t>
            </a:r>
            <a:r>
              <a:rPr lang="en-US" altLang="ko-KR" dirty="0"/>
              <a:t>.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우리 주변엔 많은 사물들이 있는데</a:t>
            </a:r>
            <a:r>
              <a:rPr lang="en-US" altLang="ko-KR" dirty="0"/>
              <a:t>, </a:t>
            </a:r>
            <a:r>
              <a:rPr lang="ko-KR" altLang="en-US" dirty="0"/>
              <a:t>우리가 가지고 다니는 노트북</a:t>
            </a:r>
            <a:r>
              <a:rPr lang="en-US" altLang="ko-KR" dirty="0"/>
              <a:t>, </a:t>
            </a:r>
            <a:r>
              <a:rPr lang="ko-KR" altLang="en-US" dirty="0"/>
              <a:t>노트북을 </a:t>
            </a:r>
            <a:r>
              <a:rPr lang="ko-KR" altLang="en-US" dirty="0" err="1"/>
              <a:t>들고다니는</a:t>
            </a:r>
            <a:r>
              <a:rPr lang="ko-KR" altLang="en-US" dirty="0"/>
              <a:t> 가방</a:t>
            </a:r>
            <a:r>
              <a:rPr lang="en-US" altLang="ko-KR" dirty="0"/>
              <a:t>, </a:t>
            </a:r>
            <a:r>
              <a:rPr lang="ko-KR" altLang="en-US" dirty="0"/>
              <a:t>누구나 가지고 있는 핸드폰</a:t>
            </a:r>
            <a:r>
              <a:rPr lang="en-US" altLang="ko-KR" dirty="0"/>
              <a:t>, </a:t>
            </a:r>
            <a:r>
              <a:rPr lang="ko-KR" altLang="en-US" dirty="0"/>
              <a:t>이런 것들이 모두 각각 하나의 객체입니다</a:t>
            </a:r>
            <a:r>
              <a:rPr lang="en-US" altLang="ko-KR" dirty="0"/>
              <a:t>.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이런 수많은 객체들 사이에서 공통된 특징을 뽑아내어 하나의 집합으로 만들어내는 겁니다</a:t>
            </a:r>
            <a:r>
              <a:rPr lang="en-US" altLang="ko-KR" dirty="0"/>
              <a:t>.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/>
              <a:t>아이패드와 </a:t>
            </a:r>
            <a:r>
              <a:rPr lang="ko-KR" altLang="en-US" b="1" dirty="0" err="1"/>
              <a:t>갤럭시탭을</a:t>
            </a:r>
            <a:r>
              <a:rPr lang="ko-KR" altLang="en-US" b="1" dirty="0"/>
              <a:t> 예로 들면</a:t>
            </a:r>
            <a:r>
              <a:rPr lang="en-US" altLang="ko-KR" b="1" dirty="0"/>
              <a:t>,  </a:t>
            </a:r>
            <a:r>
              <a:rPr lang="ko-KR" altLang="en-US" dirty="0"/>
              <a:t>이 두가지에서는 공통점이 있습니다</a:t>
            </a:r>
            <a:r>
              <a:rPr lang="en-US" altLang="ko-KR" dirty="0"/>
              <a:t>. </a:t>
            </a:r>
            <a:r>
              <a:rPr lang="ko-KR" altLang="en-US" dirty="0" err="1"/>
              <a:t>둘다</a:t>
            </a:r>
            <a:r>
              <a:rPr lang="ko-KR" altLang="en-US" dirty="0"/>
              <a:t> 전후면 카메라를 가지고 있으며</a:t>
            </a:r>
            <a:r>
              <a:rPr lang="en-US" altLang="ko-KR" dirty="0"/>
              <a:t>, </a:t>
            </a:r>
            <a:r>
              <a:rPr lang="ko-KR" altLang="en-US" dirty="0"/>
              <a:t>홈버튼도 있고</a:t>
            </a:r>
            <a:r>
              <a:rPr lang="en-US" altLang="ko-KR" dirty="0"/>
              <a:t>, </a:t>
            </a:r>
            <a:r>
              <a:rPr lang="ko-KR" altLang="en-US" dirty="0"/>
              <a:t>스피커도 있고</a:t>
            </a:r>
            <a:r>
              <a:rPr lang="en-US" altLang="ko-KR" dirty="0"/>
              <a:t>, </a:t>
            </a:r>
            <a:r>
              <a:rPr lang="ko-KR" altLang="en-US" dirty="0"/>
              <a:t>이어폰 인풋도 있습니다</a:t>
            </a:r>
            <a:r>
              <a:rPr lang="en-US" altLang="ko-KR" dirty="0"/>
              <a:t>.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지금부터의</a:t>
            </a:r>
            <a:r>
              <a:rPr lang="ko-KR" altLang="en-US" dirty="0"/>
              <a:t> 설명이 중요합니다</a:t>
            </a:r>
            <a:r>
              <a:rPr lang="en-US" altLang="ko-KR" dirty="0"/>
              <a:t>.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아이패드와 </a:t>
            </a:r>
            <a:r>
              <a:rPr lang="ko-KR" altLang="en-US" dirty="0" err="1"/>
              <a:t>갤럭시탭은</a:t>
            </a:r>
            <a:r>
              <a:rPr lang="ko-KR" altLang="en-US" dirty="0"/>
              <a:t> 다른 객체입니다</a:t>
            </a:r>
            <a:r>
              <a:rPr lang="en-US" altLang="ko-KR" dirty="0"/>
              <a:t>. </a:t>
            </a:r>
            <a:r>
              <a:rPr lang="ko-KR" altLang="en-US" dirty="0"/>
              <a:t>아이패드는 </a:t>
            </a:r>
            <a:r>
              <a:rPr lang="ko-KR" altLang="en-US" dirty="0" err="1"/>
              <a:t>갤럭시탭이</a:t>
            </a:r>
            <a:r>
              <a:rPr lang="ko-KR" altLang="en-US" dirty="0"/>
              <a:t> 아니고</a:t>
            </a:r>
            <a:r>
              <a:rPr lang="en-US" altLang="ko-KR" dirty="0"/>
              <a:t>, </a:t>
            </a:r>
            <a:r>
              <a:rPr lang="ko-KR" altLang="en-US" dirty="0" err="1"/>
              <a:t>갤럭시탭</a:t>
            </a:r>
            <a:r>
              <a:rPr lang="ko-KR" altLang="en-US" dirty="0"/>
              <a:t> 역시 아이패드가 아닙니다</a:t>
            </a:r>
            <a:r>
              <a:rPr lang="en-US" altLang="ko-KR" dirty="0"/>
              <a:t>. </a:t>
            </a:r>
            <a:r>
              <a:rPr lang="ko-KR" altLang="en-US" dirty="0"/>
              <a:t>그러나 공통적인 특징이 있었죠</a:t>
            </a:r>
            <a:r>
              <a:rPr lang="en-US" altLang="ko-KR" dirty="0"/>
              <a:t>?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 공통적인 특징을 찾아내어 </a:t>
            </a:r>
            <a:r>
              <a:rPr lang="en-US" altLang="ko-KR" dirty="0"/>
              <a:t>class</a:t>
            </a:r>
            <a:r>
              <a:rPr lang="ko-KR" altLang="en-US" dirty="0"/>
              <a:t>를 설계하는 것이 바로 </a:t>
            </a:r>
            <a:r>
              <a:rPr lang="ko-KR" altLang="en-US" dirty="0" err="1"/>
              <a:t>추상화하는</a:t>
            </a:r>
            <a:r>
              <a:rPr lang="ko-KR" altLang="en-US" dirty="0"/>
              <a:t> 과정입니다</a:t>
            </a:r>
            <a:r>
              <a:rPr lang="en-US" altLang="ko-KR" dirty="0"/>
              <a:t>.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위 과정을 통하여 아이패드와 </a:t>
            </a:r>
            <a:r>
              <a:rPr lang="ko-KR" altLang="en-US" dirty="0" err="1"/>
              <a:t>갤럭시탭은</a:t>
            </a:r>
            <a:r>
              <a:rPr lang="ko-KR" altLang="en-US" dirty="0"/>
              <a:t> 하나의 범주로 묶을 수 있습니다</a:t>
            </a:r>
            <a:r>
              <a:rPr lang="en-US" altLang="ko-KR" dirty="0"/>
              <a:t>.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 범주는 바로 </a:t>
            </a:r>
            <a:r>
              <a:rPr lang="ko-KR" altLang="en-US" dirty="0" err="1"/>
              <a:t>태블릿이겠죠</a:t>
            </a:r>
            <a:r>
              <a:rPr lang="en-US" altLang="ko-KR" dirty="0"/>
              <a:t>?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최종 정리를 해보면</a:t>
            </a:r>
            <a:r>
              <a:rPr lang="en-US" altLang="ko-KR" dirty="0"/>
              <a:t> </a:t>
            </a:r>
            <a:r>
              <a:rPr lang="ko-KR" altLang="en-US" dirty="0"/>
              <a:t>추상화란 특정한 사물들의 공통된 특징을 파악하고 정의하는 행위입니다</a:t>
            </a:r>
            <a:r>
              <a:rPr lang="en-US" altLang="ko-KR" dirty="0"/>
              <a:t>.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그렇게 함으로써 명확하게 인식할 수 있도록 하는 것이죠</a:t>
            </a:r>
            <a:r>
              <a:rPr lang="en-US" altLang="ko-KR" dirty="0"/>
              <a:t>.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아이패드와 </a:t>
            </a:r>
            <a:r>
              <a:rPr lang="ko-KR" altLang="en-US" dirty="0" err="1"/>
              <a:t>갤럭시탭은</a:t>
            </a:r>
            <a:r>
              <a:rPr lang="ko-KR" altLang="en-US" dirty="0"/>
              <a:t> 다른 물건이지만</a:t>
            </a:r>
            <a:r>
              <a:rPr lang="en-US" altLang="ko-KR" dirty="0"/>
              <a:t>, </a:t>
            </a:r>
            <a:r>
              <a:rPr lang="ko-KR" altLang="en-US" dirty="0"/>
              <a:t>공통된 특징과 공통된 기능을 찾아내고</a:t>
            </a:r>
            <a:r>
              <a:rPr lang="en-US" altLang="ko-KR" dirty="0"/>
              <a:t>, </a:t>
            </a:r>
            <a:r>
              <a:rPr lang="ko-KR" altLang="en-US" dirty="0"/>
              <a:t>그것을 </a:t>
            </a:r>
            <a:r>
              <a:rPr lang="ko-KR" altLang="en-US" dirty="0" err="1"/>
              <a:t>태블릿이라는</a:t>
            </a:r>
            <a:r>
              <a:rPr lang="ko-KR" altLang="en-US" dirty="0"/>
              <a:t> 범주로 묶어냈습니다</a:t>
            </a:r>
            <a:r>
              <a:rPr lang="en-US" altLang="ko-KR" dirty="0"/>
              <a:t>.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공통된 특징은 속성으로</a:t>
            </a:r>
            <a:r>
              <a:rPr lang="en-US" altLang="ko-KR" dirty="0"/>
              <a:t>, </a:t>
            </a:r>
            <a:r>
              <a:rPr lang="ko-KR" altLang="en-US" dirty="0"/>
              <a:t>인스턴스 변수가 되는 것이고</a:t>
            </a:r>
            <a:r>
              <a:rPr lang="en-US" altLang="ko-KR" dirty="0"/>
              <a:t>, </a:t>
            </a:r>
            <a:r>
              <a:rPr lang="ko-KR" altLang="en-US" dirty="0"/>
              <a:t>공통된 기능은 행동으로 메소드가 되는 것입니다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D8842C-7A3A-4B3A-9C5D-705AA924AB9F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4626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79413" y="490538"/>
            <a:ext cx="6343650" cy="439261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여기서 상속이란 우리가 생각하는 상속이라는 단어가 맞습니다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현실 세계에서 부모님이 자식들에게 재산을 물려주는 것과 비슷한데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차이라고 하면 자식이 상속받고 싶은 부모를 선택해서 물려받는다는 것입니다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이때 상속받는 클래스를 자식 클래스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하위 클래스 또는 서브 클래스라고 부르고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,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상속을 해주는 클래스를 부모 클래스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상위 클래스 또는 슈퍼 클래스라고 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.</a:t>
            </a: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latin typeface="나눔고딕"/>
              <a:ea typeface="Dotum" panose="020B0600000101010101" pitchFamily="50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자식 클래스가 부모 클래스로부터 상속을 받게 되면 </a:t>
            </a:r>
            <a:r>
              <a:rPr lang="ko-KR" altLang="en-US" b="0" i="0" dirty="0">
                <a:solidFill>
                  <a:srgbClr val="0076C8"/>
                </a:solidFill>
                <a:effectLst/>
                <a:latin typeface="나눔고딕"/>
              </a:rPr>
              <a:t>부모 클래스의 필드와 메서드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를 물려받게 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단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접근제어자가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private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을 갖는 필드나 메소드는 상속이 불가하고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패키지가 다를 경우 접근제어자가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default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인 경우도 상속이 불가합니다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.</a:t>
            </a: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latin typeface="나눔고딕"/>
              <a:ea typeface="Dotum" panose="020B0600000101010101" pitchFamily="50" charset="-127"/>
            </a:endParaRP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상속의 장점은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PPT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에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나눔고딕"/>
              </a:rPr>
              <a:t>써있는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 것처럼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중복된 코드를 줄일 수 있고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유지 보수가 편리하며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통일성이 있고 다형성을 구현할 수 있다는 것입니다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.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000000"/>
              </a:solidFill>
              <a:effectLst/>
              <a:latin typeface="나눔고딕"/>
              <a:ea typeface="Dotum" panose="020B0600000101010101" pitchFamily="50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상속을 받는 방법은 간단합니다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상속받을 자식 클래스 뒤에 </a:t>
            </a:r>
            <a:r>
              <a:rPr lang="en-US" altLang="ko-KR" b="0" i="0" dirty="0">
                <a:solidFill>
                  <a:srgbClr val="0076C8"/>
                </a:solidFill>
                <a:effectLst/>
                <a:latin typeface="나눔고딕"/>
              </a:rPr>
              <a:t>extends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 키워드를 사용하고 부모 클래스를 적어주면 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.</a:t>
            </a: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latin typeface="나눔고딕"/>
              <a:ea typeface="Dotum" panose="020B0600000101010101" pitchFamily="50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그리고 자바에서는 자식 클래스가 여러 부모로부터 </a:t>
            </a:r>
            <a:r>
              <a:rPr lang="ko-KR" altLang="en-US" b="0" i="0" dirty="0">
                <a:solidFill>
                  <a:srgbClr val="0076C8"/>
                </a:solidFill>
                <a:effectLst/>
                <a:latin typeface="나눔고딕"/>
              </a:rPr>
              <a:t>다중 상속을 받는 것은 불가능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.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즉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, 1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개의 부모 클래스로부터의 </a:t>
            </a:r>
            <a:r>
              <a:rPr lang="ko-KR" altLang="en-US" b="0" i="0" dirty="0">
                <a:solidFill>
                  <a:srgbClr val="0076C8"/>
                </a:solidFill>
                <a:effectLst/>
                <a:latin typeface="나눔고딕"/>
              </a:rPr>
              <a:t>단일 상속만 허용됩니다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. 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나눔고딕"/>
              </a:rPr>
              <a:t>하지만 부모 클래스는 여러 개의 자식 클래스에게 상속이 가능합니다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나눔고딕"/>
              </a:rPr>
              <a:t>.</a:t>
            </a:r>
            <a:endParaRPr lang="ko-KR" altLang="en-US" b="0" i="0" dirty="0">
              <a:solidFill>
                <a:srgbClr val="000000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D8842C-7A3A-4B3A-9C5D-705AA924AB9F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2183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79413" y="490538"/>
            <a:ext cx="6343650" cy="439261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ko-KR" altLang="en-US" dirty="0"/>
              <a:t>캡슐화는 정보 은닉이라고도 할 수 있는데</a:t>
            </a:r>
            <a:r>
              <a:rPr lang="en-US" altLang="ko-KR" dirty="0"/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캡슐화는 관련이 있는 변수와 함수를 하나의 클래스로 묶고 외부에서 쉽게 접근하지 못하도록 은닉하는게 핵심입니다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.</a:t>
            </a:r>
            <a:endParaRPr lang="en-US" altLang="ko-KR" b="0" i="0" dirty="0">
              <a:solidFill>
                <a:srgbClr val="202124"/>
              </a:solidFill>
              <a:effectLst/>
              <a:latin typeface="Apple SD Gothic Neo"/>
            </a:endParaRPr>
          </a:p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객체에 직접적인 접근을 막고 외부에서 내부의 정보에 직접 접근하거나 변경할 수 없고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,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객체가 제공하는 필드와 메소드를 통해서만 접근이 가능합니다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.</a:t>
            </a:r>
            <a:endParaRPr lang="en-US" altLang="ko-KR" b="0" i="0" dirty="0">
              <a:solidFill>
                <a:srgbClr val="202124"/>
              </a:solidFill>
              <a:effectLst/>
              <a:latin typeface="Apple SD Gothic Neo"/>
            </a:endParaRPr>
          </a:p>
          <a:p>
            <a:endParaRPr lang="en-US" altLang="ko-KR" b="0" i="0" dirty="0">
              <a:solidFill>
                <a:srgbClr val="202124"/>
              </a:solidFill>
              <a:effectLst/>
              <a:latin typeface="Apple SD Gothic Neo"/>
            </a:endParaRPr>
          </a:p>
          <a:p>
            <a:r>
              <a:rPr lang="ko-KR" altLang="en-US" b="0" i="0" dirty="0">
                <a:solidFill>
                  <a:srgbClr val="FF7154"/>
                </a:solidFill>
                <a:effectLst/>
                <a:latin typeface="Ubuntu Condensed"/>
              </a:rPr>
              <a:t>캡슐화의 가장 큰 장점은 정보은닉에 있습니다</a:t>
            </a:r>
            <a:r>
              <a:rPr lang="en-US" altLang="ko-KR" b="0" i="0" dirty="0">
                <a:solidFill>
                  <a:srgbClr val="FF7154"/>
                </a:solidFill>
                <a:effectLst/>
                <a:latin typeface="Ubuntu Condensed"/>
              </a:rPr>
              <a:t>.</a:t>
            </a:r>
            <a:br>
              <a:rPr lang="ko-KR" altLang="en-US" dirty="0"/>
            </a:b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외부에서 객체 접근하는데 있어 정보를 숨기고 객체의 연산을 통해서만 접근이 가능하게 하는 것입니다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.</a:t>
            </a:r>
          </a:p>
          <a:p>
            <a:br>
              <a:rPr lang="ko-KR" altLang="en-US" dirty="0"/>
            </a:b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정보은닉의 장점은 외부에서 특정 객체의 데이터 및 함수를 직접 접근을 막음으로써 변경을 못하게 하고 유지보수나 확장 시 오류의 범위를 최소화 할 수 있고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,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 객체 내 정보손상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,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오용을 방지합니다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.</a:t>
            </a:r>
          </a:p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또한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,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조작법이 바뀌어도 사용방법 자체는 바뀌지 않고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,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데이터가 변경되어도 다른 객체에 영향을 주지 않기 때문에 독립성이 좋습니다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.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 처리된 결과사용으로 이식성이 좋고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,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객체를 모듈화 할 수 있어 새로운 시스템의 구성에 하나의 모듈처럼 사용이 가능합니다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.</a:t>
            </a:r>
          </a:p>
          <a:p>
            <a:endParaRPr lang="en-US" altLang="ko-KR" b="0" i="0" dirty="0">
              <a:solidFill>
                <a:srgbClr val="000000"/>
              </a:solidFill>
              <a:effectLst/>
              <a:latin typeface="Ubuntu Condensed"/>
            </a:endParaRPr>
          </a:p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캡슐화를 하기 위해서는 접근제어자를 통해 설계가 잘 이루어져야 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.</a:t>
            </a:r>
            <a:br>
              <a:rPr lang="ko-KR" altLang="en-US" dirty="0"/>
            </a:b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자신 내부의 모듈은 감추고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,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다른 모듈의 내부 작업도 직접적으로 개입하지 못하도록 설계해야 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.</a:t>
            </a:r>
            <a:br>
              <a:rPr lang="ko-KR" altLang="en-US" dirty="0"/>
            </a:br>
            <a:endParaRPr lang="en-US" altLang="ko-KR" dirty="0"/>
          </a:p>
          <a:p>
            <a:r>
              <a:rPr lang="ko-KR" altLang="en-US" dirty="0"/>
              <a:t>접근 제어자는 크게 클래스 접근제어자와 메소드 접근제어자로 나뉩니다</a:t>
            </a:r>
            <a:r>
              <a:rPr lang="en-US" altLang="ko-KR" dirty="0"/>
              <a:t>.</a:t>
            </a:r>
          </a:p>
          <a:p>
            <a:br>
              <a:rPr lang="ko-KR" altLang="en-US" dirty="0"/>
            </a:br>
            <a:r>
              <a:rPr lang="ko-KR" altLang="en-US" b="0" i="0" dirty="0">
                <a:solidFill>
                  <a:srgbClr val="1B9AE6"/>
                </a:solidFill>
                <a:effectLst/>
                <a:latin typeface="Ubuntu Condensed"/>
              </a:rPr>
              <a:t>클래스 접근 제어자에서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default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는 동일 패키지의 클래스에만 인스턴스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즉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객체를 생성할 수 있으며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, public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은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다른 패키지에서 인스턴스 생성이 가능합니다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.</a:t>
            </a:r>
            <a:br>
              <a:rPr lang="ko-KR" altLang="en-US" dirty="0"/>
            </a:br>
            <a:br>
              <a:rPr lang="ko-KR" altLang="en-US" dirty="0"/>
            </a:br>
            <a:r>
              <a:rPr lang="ko-KR" altLang="en-US" b="0" i="0" dirty="0">
                <a:solidFill>
                  <a:srgbClr val="1B9AE6"/>
                </a:solidFill>
                <a:effectLst/>
                <a:latin typeface="Ubuntu Condensed"/>
              </a:rPr>
              <a:t>메소드 접근 제어자에서의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default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는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접근제어자가 없는 형태로 동일한 패키지 안에서만 접근이 가능하며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, public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은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모든 객체에서 접근 가능합니다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.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Private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은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동일한 클래스 안에서만 접근이 가능하고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, this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를 사용하는 것들은 외부에서 접근 불가능하고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,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상속도 안됩니다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마지막으로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protected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는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동일한 패키지 안에서 사용이 가능하고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,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/>
              </a:rPr>
              <a:t>다른 패키지라도 상속받은 클래스에는 접근이 가능합니다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</a:rPr>
              <a:t>.</a:t>
            </a:r>
            <a:endParaRPr lang="en-US" altLang="ko-KR" b="0" i="0" dirty="0">
              <a:solidFill>
                <a:srgbClr val="202124"/>
              </a:solidFill>
              <a:effectLst/>
              <a:latin typeface="Apple SD Gothic Neo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D8842C-7A3A-4B3A-9C5D-705AA924AB9F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7555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다형성은 실질적으로 쓰이는 기능은 여러 가지 역할을 수행한다는 의미로 오버로딩과 </a:t>
            </a:r>
            <a:r>
              <a:rPr lang="ko-KR" altLang="en-US" dirty="0" err="1"/>
              <a:t>오버라이딩이</a:t>
            </a:r>
            <a:r>
              <a:rPr lang="ko-KR" altLang="en-US" dirty="0"/>
              <a:t> 있습니다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오버라이딩은</a:t>
            </a:r>
            <a:r>
              <a:rPr lang="ko-KR" altLang="en-US" dirty="0"/>
              <a:t> 상위클래스의 메소드와 같은 </a:t>
            </a:r>
            <a:r>
              <a:rPr lang="ko-KR" altLang="en-US" dirty="0" err="1"/>
              <a:t>시그니처로</a:t>
            </a:r>
            <a:r>
              <a:rPr lang="ko-KR" altLang="en-US" dirty="0"/>
              <a:t> 메소드를 재정의하는 것을 의미하고</a:t>
            </a:r>
            <a:r>
              <a:rPr lang="en-US" altLang="ko-KR" dirty="0"/>
              <a:t>, </a:t>
            </a:r>
            <a:r>
              <a:rPr lang="ko-KR" altLang="en-US" dirty="0"/>
              <a:t>오버로딩은 메소드 이름만 같고 </a:t>
            </a:r>
            <a:r>
              <a:rPr lang="ko-KR" altLang="en-US" dirty="0" err="1"/>
              <a:t>시그니처가</a:t>
            </a:r>
            <a:r>
              <a:rPr lang="ko-KR" altLang="en-US" dirty="0"/>
              <a:t> 다른 것들을 의미합니다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 </a:t>
            </a:r>
            <a:r>
              <a:rPr lang="ko-KR" altLang="en-US" dirty="0" err="1"/>
              <a:t>시그니처란</a:t>
            </a:r>
            <a:r>
              <a:rPr lang="ko-KR" altLang="en-US" dirty="0"/>
              <a:t> 이름</a:t>
            </a:r>
            <a:r>
              <a:rPr lang="en-US" altLang="ko-KR" dirty="0"/>
              <a:t>, </a:t>
            </a:r>
            <a:r>
              <a:rPr lang="ko-KR" altLang="en-US" dirty="0"/>
              <a:t>반환형</a:t>
            </a:r>
            <a:r>
              <a:rPr lang="en-US" altLang="ko-KR" dirty="0"/>
              <a:t>, </a:t>
            </a:r>
            <a:r>
              <a:rPr lang="ko-KR" altLang="en-US" dirty="0"/>
              <a:t>인자를 뜻합니다</a:t>
            </a:r>
            <a:r>
              <a:rPr lang="en-US" altLang="ko-KR" dirty="0"/>
              <a:t>.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여기서 유의할 점은 매개변수 개수</a:t>
            </a:r>
            <a:r>
              <a:rPr lang="en-US" altLang="ko-KR" dirty="0"/>
              <a:t>, </a:t>
            </a:r>
            <a:r>
              <a:rPr lang="ko-KR" altLang="en-US" dirty="0"/>
              <a:t>혹은 개수가 같다고 하더라도 변수의 타입이 달라야 한다는 것입니다</a:t>
            </a:r>
            <a:r>
              <a:rPr lang="en-US" altLang="ko-KR" dirty="0"/>
              <a:t>.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오버라이딩과</a:t>
            </a:r>
            <a:r>
              <a:rPr lang="ko-KR" altLang="en-US" dirty="0"/>
              <a:t> 오버로딩의 공통점은 메소드의 이름이 </a:t>
            </a:r>
            <a:r>
              <a:rPr lang="ko-KR" altLang="en-US" dirty="0" err="1"/>
              <a:t>동일해야한다는</a:t>
            </a:r>
            <a:r>
              <a:rPr lang="ko-KR" altLang="en-US" dirty="0"/>
              <a:t> 것입니다</a:t>
            </a:r>
            <a:r>
              <a:rPr lang="en-US" altLang="ko-KR" dirty="0"/>
              <a:t>.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하지만 </a:t>
            </a:r>
            <a:r>
              <a:rPr lang="ko-KR" altLang="en-US" dirty="0" err="1"/>
              <a:t>오버라이딩은</a:t>
            </a:r>
            <a:r>
              <a:rPr lang="ko-KR" altLang="en-US" dirty="0"/>
              <a:t> 부모 클래스와 자식 클래스에 있는 메소드라는 조건이 추가됩니다</a:t>
            </a:r>
            <a:r>
              <a:rPr lang="en-US" altLang="ko-KR" dirty="0"/>
              <a:t>.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오버라이딩은</a:t>
            </a:r>
            <a:r>
              <a:rPr lang="ko-KR" altLang="en-US" dirty="0"/>
              <a:t> 재정의라는 뜻을 가지고 있기 때문에 꼭 두개 이상의 클래스가 존재해야 합니다</a:t>
            </a:r>
            <a:r>
              <a:rPr lang="en-US" altLang="ko-KR" dirty="0"/>
              <a:t>.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오버로딩은 </a:t>
            </a:r>
            <a:r>
              <a:rPr lang="ko-KR" altLang="en-US" dirty="0" err="1"/>
              <a:t>리턴타입이</a:t>
            </a:r>
            <a:r>
              <a:rPr lang="ko-KR" altLang="en-US" dirty="0"/>
              <a:t> 달라도 무관하지만 </a:t>
            </a:r>
            <a:r>
              <a:rPr lang="ko-KR" altLang="en-US" dirty="0" err="1"/>
              <a:t>오버라이딩은</a:t>
            </a:r>
            <a:r>
              <a:rPr lang="ko-KR" altLang="en-US" dirty="0"/>
              <a:t> </a:t>
            </a:r>
            <a:r>
              <a:rPr lang="ko-KR" altLang="en-US" dirty="0" err="1"/>
              <a:t>리턴타입이</a:t>
            </a:r>
            <a:r>
              <a:rPr lang="ko-KR" altLang="en-US" dirty="0"/>
              <a:t> </a:t>
            </a:r>
            <a:r>
              <a:rPr lang="ko-KR" altLang="en-US" dirty="0" err="1"/>
              <a:t>동일해야하며</a:t>
            </a:r>
            <a:r>
              <a:rPr lang="en-US" altLang="ko-KR" dirty="0"/>
              <a:t>, </a:t>
            </a:r>
            <a:r>
              <a:rPr lang="ko-KR" altLang="en-US" dirty="0"/>
              <a:t>오버로딩은 매개변수 타입의 개수와 위치가 하나라도 </a:t>
            </a:r>
            <a:r>
              <a:rPr lang="ko-KR" altLang="en-US" dirty="0" err="1"/>
              <a:t>달라야하지만</a:t>
            </a:r>
            <a:r>
              <a:rPr lang="en-US" altLang="ko-KR" dirty="0"/>
              <a:t>, </a:t>
            </a:r>
            <a:r>
              <a:rPr lang="ko-KR" altLang="en-US" dirty="0" err="1"/>
              <a:t>오버라이딩은</a:t>
            </a:r>
            <a:r>
              <a:rPr lang="ko-KR" altLang="en-US" dirty="0"/>
              <a:t> 매개변수 타입의 개수와 </a:t>
            </a:r>
            <a:r>
              <a:rPr lang="en-US" altLang="ko-KR" dirty="0" err="1"/>
              <a:t>dnll</a:t>
            </a:r>
            <a:r>
              <a:rPr lang="ko-KR" altLang="en-US" dirty="0"/>
              <a:t>가 </a:t>
            </a:r>
            <a:r>
              <a:rPr lang="ko-KR" altLang="en-US" dirty="0" err="1"/>
              <a:t>동일해야합니다</a:t>
            </a:r>
            <a:r>
              <a:rPr lang="en-US" altLang="ko-KR" dirty="0"/>
              <a:t>.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오버로딩은 </a:t>
            </a:r>
            <a:r>
              <a:rPr lang="ko-KR" altLang="en-US" dirty="0" err="1"/>
              <a:t>정적바인딩으로</a:t>
            </a:r>
            <a:r>
              <a:rPr lang="ko-KR" altLang="en-US" dirty="0"/>
              <a:t> 실행할 메소드를 컴파일하는 시간에 결정하는 반면</a:t>
            </a:r>
            <a:r>
              <a:rPr lang="en-US" altLang="ko-KR" dirty="0"/>
              <a:t>, </a:t>
            </a:r>
            <a:r>
              <a:rPr lang="ko-KR" altLang="en-US" dirty="0" err="1"/>
              <a:t>오버라이딩은</a:t>
            </a:r>
            <a:r>
              <a:rPr lang="ko-KR" altLang="en-US" dirty="0"/>
              <a:t> </a:t>
            </a:r>
            <a:r>
              <a:rPr lang="ko-KR" altLang="en-US" dirty="0" err="1"/>
              <a:t>동적바인딩으로</a:t>
            </a:r>
            <a:r>
              <a:rPr lang="ko-KR" altLang="en-US" dirty="0"/>
              <a:t> 실행할 메소드를 컴파일이 아닌 실행시간에 결정합니다</a:t>
            </a:r>
            <a:r>
              <a:rPr lang="en-US" altLang="ko-KR" dirty="0"/>
              <a:t>.</a:t>
            </a:r>
          </a:p>
          <a:p>
            <a:pPr marL="0" marR="0" lvl="0" indent="0" algn="l" defTabSz="914307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algn="l"/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오버로딩은 상속이 필수조건이 아니라 하나의 클래스내에서 중복정의가 가능하죠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.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하지만 </a:t>
            </a:r>
            <a:r>
              <a:rPr lang="ko-KR" altLang="en-US" sz="1800" b="0" i="0" dirty="0" err="1">
                <a:solidFill>
                  <a:srgbClr val="333333"/>
                </a:solidFill>
                <a:effectLst/>
                <a:latin typeface="Noto Sans KR"/>
              </a:rPr>
              <a:t>오버라이딩은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 무조건 자식클래스에서 부모클래스에서 선언된 메소드를 가져와 재정의하여 실행하는 것이기 때문에 상속이 필수 조건입니다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.</a:t>
            </a:r>
            <a:endParaRPr lang="ko-KR" altLang="en-US" b="0" i="0" dirty="0">
              <a:solidFill>
                <a:srgbClr val="333333"/>
              </a:solidFill>
              <a:effectLst/>
              <a:latin typeface="Noto Sans KR"/>
            </a:endParaRPr>
          </a:p>
          <a:p>
            <a:pPr algn="l"/>
            <a:endParaRPr lang="ko-KR" altLang="en-US" b="0" i="0" dirty="0">
              <a:solidFill>
                <a:srgbClr val="333333"/>
              </a:solidFill>
              <a:effectLst/>
              <a:latin typeface="Noto Sans KR"/>
            </a:endParaRPr>
          </a:p>
          <a:p>
            <a:pPr algn="l"/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추가적으로 </a:t>
            </a:r>
            <a:r>
              <a:rPr lang="ko-KR" altLang="en-US" sz="1800" b="0" i="0" dirty="0" err="1">
                <a:solidFill>
                  <a:srgbClr val="333333"/>
                </a:solidFill>
                <a:effectLst/>
                <a:latin typeface="Noto Sans KR"/>
              </a:rPr>
              <a:t>오버라이딩에서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 </a:t>
            </a:r>
            <a:r>
              <a:rPr lang="ko-KR" altLang="en-US" sz="1800" b="0" i="0" dirty="0" err="1">
                <a:solidFill>
                  <a:srgbClr val="333333"/>
                </a:solidFill>
                <a:effectLst/>
                <a:latin typeface="Noto Sans KR"/>
              </a:rPr>
              <a:t>서브클래스라고도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 하는 자식클래스는 접근지정자를 부모클래스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(-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즉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슈퍼클래스보다 접근지정자를 좁은 범위로 변경할 수 없다고 하니 </a:t>
            </a:r>
            <a:r>
              <a:rPr lang="ko-KR" altLang="en-US" sz="1800" b="0" i="0" dirty="0" err="1">
                <a:solidFill>
                  <a:srgbClr val="333333"/>
                </a:solidFill>
                <a:effectLst/>
                <a:latin typeface="Noto Sans KR"/>
              </a:rPr>
              <a:t>알아두세요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!</a:t>
            </a:r>
            <a:endParaRPr lang="ko-KR" altLang="en-US" b="0" i="0" dirty="0">
              <a:solidFill>
                <a:srgbClr val="333333"/>
              </a:solidFill>
              <a:effectLst/>
              <a:latin typeface="Noto Sans KR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8842C-7A3A-4B3A-9C5D-705AA924AB9F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6717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79413" y="490538"/>
            <a:ext cx="6343650" cy="439261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생성자 오버로딩은 매개변수가 다른 생성자를 여러 개 만들어내는 것입니다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.</a:t>
            </a:r>
          </a:p>
          <a:p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단 조건이 있는데 같은 클래스 내에서 이루어져야만 하고 선언된 매개변수 타입의 순서와 개수가 달라야 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.</a:t>
            </a:r>
          </a:p>
          <a:p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예를 들어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구분선을 기준으로 위에 세문장은 선언된 매개변수 타입의 개수가 이미 다르기 때문에 순서를 따질 필요없이 생성자 오버로딩이 아주 잘된 모습입니다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.</a:t>
            </a:r>
          </a:p>
          <a:p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하지만 구분선 아래의 문장은 타입 순서와 개수가 똑같고 이름만 바뀌거나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타입의 순서가 다르지만 개수가 똑같기 때문에 타입의 순서와 개수가 모두 달라야 하는 생성자 오버로딩의 조건에 부합되지 않습니다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.</a:t>
            </a:r>
          </a:p>
          <a:p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여기서 헷갈리지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Noto Sans KR"/>
              </a:rPr>
              <a:t>말아햐하는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 게 메소드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Noto Sans KR"/>
              </a:rPr>
              <a:t>오버로딩입니다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앞에서 다룬 메소드 오버로딩은 메소드 이름은 무조건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Noto Sans KR"/>
              </a:rPr>
              <a:t>동일해야하며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매개변수의 타입의 개수나 순서 둘 중에 하나만 달라고 메소드 오버로딩에 해당됩니다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.</a:t>
            </a:r>
          </a:p>
          <a:p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생성자 오버로딩은 두개 모두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Noto Sans KR"/>
              </a:rPr>
              <a:t>달라야하지만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메소드 오버로딩은 개수가 같아도 순서만 다르면 된다는 거죠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.</a:t>
            </a:r>
          </a:p>
          <a:p>
            <a:r>
              <a:rPr lang="ko-KR" altLang="en-US" b="1" i="0" dirty="0">
                <a:solidFill>
                  <a:srgbClr val="333333"/>
                </a:solidFill>
                <a:effectLst/>
                <a:latin typeface="Noto Sans KR"/>
              </a:rPr>
              <a:t>이 코드에서 보면 첫번째는 메소드 이름이 동일하고</a:t>
            </a:r>
            <a:r>
              <a:rPr lang="en-US" altLang="ko-KR" b="1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b="1" i="0" dirty="0">
                <a:solidFill>
                  <a:srgbClr val="333333"/>
                </a:solidFill>
                <a:effectLst/>
                <a:latin typeface="Noto Sans KR"/>
              </a:rPr>
              <a:t>매개변수 타입의 개수가 다르기 때문에 메소드 오버로딩에 해당되는 문장입니다</a:t>
            </a:r>
            <a:r>
              <a:rPr lang="en-US" altLang="ko-KR" b="1" i="0" dirty="0">
                <a:solidFill>
                  <a:srgbClr val="333333"/>
                </a:solidFill>
                <a:effectLst/>
                <a:latin typeface="Noto Sans KR"/>
              </a:rPr>
              <a:t>.</a:t>
            </a:r>
          </a:p>
          <a:p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두번째에서는 메소드 이름이 동일하지 않기 때문에 타입의 개수가 달라고 해당되지 않고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세번째에서는 매개변수의 이름은 동일하지만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타입의 개수와 순서도 모두 동일하기 때문에 메소드 오버로딩에 해당하지 않습니다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.</a:t>
            </a:r>
          </a:p>
          <a:p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마지막으로 네번째에서는 세번째와 마찬가지로 이름과 타입의 개수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순서 모두 동일하기 때문에 해당하지 않습니다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여기서 세번째 코드와 다른 점은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Noto Sans KR"/>
              </a:rPr>
              <a:t>리턴타입인데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 메소드 오버로딩은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Noto Sans KR"/>
              </a:rPr>
              <a:t>리턴타입이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 바뀌더라도 무관합니다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D8842C-7A3A-4B3A-9C5D-705AA924AB9F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8494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77825" y="488950"/>
            <a:ext cx="6346825" cy="43942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D8842C-7A3A-4B3A-9C5D-705AA924AB9F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0461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79413" y="490538"/>
            <a:ext cx="6343650" cy="439261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자바에서 컬렉션 프레임워크란 다수의 데이터를 쉽고 효과적으로 처리할 수 있는 표준화된 방법을 제공하는 클래스의 집합을 의미합니다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.</a:t>
            </a:r>
          </a:p>
          <a:p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즉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, 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데이터를 저장하는 자료 구조와 데이터를 처리하는 알고리즘을 </a:t>
            </a:r>
            <a:r>
              <a:rPr lang="ko-KR" altLang="en-US" b="0" i="0" dirty="0" err="1">
                <a:solidFill>
                  <a:srgbClr val="575757"/>
                </a:solidFill>
                <a:effectLst/>
                <a:latin typeface="notokr"/>
              </a:rPr>
              <a:t>구조화하여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 클래스로 구현해 놓은 것입니다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.</a:t>
            </a:r>
          </a:p>
          <a:p>
            <a:pPr algn="l" latinLnBrk="1"/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이러한 컬렉션 프레임워크는 자바의 인터페이스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(interface)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를 사용하여 구현됩니다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.</a:t>
            </a:r>
          </a:p>
          <a:p>
            <a:pPr algn="l" latinLnBrk="1"/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컬렉션 프레임워크에서는 데이터를 저장하는 자료 구조에 따라 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list, set, map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과 같은 핵심이 되는 주요 인터페이스를 정의하고 있습니다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.</a:t>
            </a:r>
          </a:p>
          <a:p>
            <a:pPr algn="l" latinLnBrk="1"/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이 중에서 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List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와 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Set 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인터페이스는 모두 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Collection 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인터페이스를 상속받지만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, 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구조상의 차이로 인해 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Map 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인터페이스는 별도로 정의됩니다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.</a:t>
            </a:r>
          </a:p>
          <a:p>
            <a:pPr algn="l" latinLnBrk="1"/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따라서 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List 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인터페이스와 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Set 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인터페이스의 공통된 부분을 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Collection 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인터페이스에서 정의하고 있습니다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.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D8842C-7A3A-4B3A-9C5D-705AA924AB9F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23678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79413" y="490538"/>
            <a:ext cx="6343650" cy="439261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자바에서 컬렉션 프레임워크를 구성하고 있는 주요 인터페이스의 간략한 특징은 다음과 같습니다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.</a:t>
            </a:r>
          </a:p>
          <a:p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List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는 순서가 있는 데이터 집합으로 중복을 허용하고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, set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은 순서가 없는 데이터 집합으로 중복을 허용하지 않습니다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.</a:t>
            </a:r>
          </a:p>
          <a:p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Map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은 키와 값이 한 쌍으로 이루어지는 데이터 집합으로 순서가 없습니다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. 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키는 중복을 허용하지 않지만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, 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값은 중복될 수 있습니다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.</a:t>
            </a:r>
          </a:p>
          <a:p>
            <a:endParaRPr lang="en-US" altLang="ko-KR" b="0" i="0" dirty="0">
              <a:solidFill>
                <a:srgbClr val="575757"/>
              </a:solidFill>
              <a:effectLst/>
              <a:latin typeface="notokr"/>
            </a:endParaRPr>
          </a:p>
          <a:p>
            <a:pPr algn="l" latinLnBrk="1"/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컬렉션 프레임워크에 속하는 인터페이스를 구현한 클래스를 컬렉션 클래스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(collection class)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라고 합니다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.</a:t>
            </a:r>
          </a:p>
          <a:p>
            <a:pPr algn="l" latinLnBrk="1"/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 </a:t>
            </a:r>
          </a:p>
          <a:p>
            <a:pPr algn="l" latinLnBrk="1"/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컬렉션 프레임워크의 모든 컬렉션 클래스는 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List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와 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Set, Map 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인터페이스 중 하나의 인터페이스를 구현하고 있습니다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. 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또한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, 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클래스 이름에도 구현한 인터페이스의 이름이 포함되므로 바로 구분할 수 있습니다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.</a:t>
            </a:r>
          </a:p>
          <a:p>
            <a:pPr algn="l" latinLnBrk="1"/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 </a:t>
            </a:r>
          </a:p>
          <a:p>
            <a:pPr algn="l" latinLnBrk="1"/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Vector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나 </a:t>
            </a:r>
            <a:r>
              <a:rPr lang="en-US" altLang="ko-KR" b="0" i="0" dirty="0" err="1">
                <a:solidFill>
                  <a:srgbClr val="575757"/>
                </a:solidFill>
                <a:effectLst/>
                <a:latin typeface="notokr"/>
              </a:rPr>
              <a:t>Hashtable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과 같은 컬렉션 클래스는 예전부터 사용해 왔으므로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, 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기존 코드와의 호환을 위해 아직도 남아 있습니다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.</a:t>
            </a:r>
          </a:p>
          <a:p>
            <a:pPr algn="l" latinLnBrk="1"/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하지만 기존에 사용하던 컬렉션 클래스를 사용하는 것보다는 새로 추가된 </a:t>
            </a:r>
            <a:r>
              <a:rPr lang="en-US" altLang="ko-KR" b="0" i="0" dirty="0" err="1">
                <a:solidFill>
                  <a:srgbClr val="575757"/>
                </a:solidFill>
                <a:effectLst/>
                <a:latin typeface="notokr"/>
              </a:rPr>
              <a:t>ArrayList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나 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HashMap </a:t>
            </a:r>
            <a:r>
              <a:rPr lang="ko-KR" altLang="en-US" b="0" i="0" dirty="0">
                <a:solidFill>
                  <a:srgbClr val="575757"/>
                </a:solidFill>
                <a:effectLst/>
                <a:latin typeface="notokr"/>
              </a:rPr>
              <a:t>클래스를 사용하는 것이 성능 면에서도 더 나은 결과를 얻을 수 있습니다</a:t>
            </a:r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.</a:t>
            </a:r>
          </a:p>
          <a:p>
            <a:pPr algn="l" latinLnBrk="1"/>
            <a:r>
              <a:rPr lang="en-US" altLang="ko-KR" b="0" i="0" dirty="0">
                <a:solidFill>
                  <a:srgbClr val="575757"/>
                </a:solidFill>
                <a:effectLst/>
                <a:latin typeface="notokr"/>
              </a:rPr>
              <a:t> </a:t>
            </a:r>
          </a:p>
          <a:p>
            <a:pPr algn="l" latinLnBrk="1"/>
            <a:r>
              <a:rPr lang="ko-KR" altLang="en-US" b="1" i="0" dirty="0">
                <a:solidFill>
                  <a:srgbClr val="575757"/>
                </a:solidFill>
                <a:effectLst/>
                <a:latin typeface="notokr"/>
              </a:rPr>
              <a:t>다음 예제는 </a:t>
            </a:r>
            <a:r>
              <a:rPr lang="en-US" altLang="ko-KR" b="1" i="0" dirty="0" err="1">
                <a:solidFill>
                  <a:srgbClr val="575757"/>
                </a:solidFill>
                <a:effectLst/>
                <a:latin typeface="notokr"/>
              </a:rPr>
              <a:t>ArrayList</a:t>
            </a:r>
            <a:r>
              <a:rPr lang="en-US" altLang="ko-KR" b="1" i="0" dirty="0">
                <a:solidFill>
                  <a:srgbClr val="575757"/>
                </a:solidFill>
                <a:effectLst/>
                <a:latin typeface="notokr"/>
              </a:rPr>
              <a:t> </a:t>
            </a:r>
            <a:r>
              <a:rPr lang="ko-KR" altLang="en-US" b="1" i="0" dirty="0">
                <a:solidFill>
                  <a:srgbClr val="575757"/>
                </a:solidFill>
                <a:effectLst/>
                <a:latin typeface="notokr"/>
              </a:rPr>
              <a:t>클래스를 이용하여 리스트를 생성하고 조작하는 예제입니다</a:t>
            </a:r>
            <a:r>
              <a:rPr lang="en-US" altLang="ko-KR" b="1" i="0" dirty="0">
                <a:solidFill>
                  <a:srgbClr val="575757"/>
                </a:solidFill>
                <a:effectLst/>
                <a:latin typeface="notokr"/>
              </a:rPr>
              <a:t>.</a:t>
            </a:r>
          </a:p>
          <a:p>
            <a:pPr algn="l" latinLnBrk="1"/>
            <a:endParaRPr lang="en-US" altLang="ko-KR" b="0" i="0" dirty="0">
              <a:solidFill>
                <a:srgbClr val="575757"/>
              </a:solidFill>
              <a:effectLst/>
              <a:latin typeface="notokr"/>
            </a:endParaRPr>
          </a:p>
          <a:p>
            <a:pPr algn="l" latinLnBrk="1"/>
            <a:endParaRPr lang="en-US" altLang="ko-KR" b="0" i="0" dirty="0">
              <a:solidFill>
                <a:srgbClr val="575757"/>
              </a:solidFill>
              <a:effectLst/>
              <a:latin typeface="notokr"/>
            </a:endParaRPr>
          </a:p>
          <a:p>
            <a:r>
              <a:rPr lang="ko-KR" altLang="en-US" dirty="0"/>
              <a:t>컬렉션</a:t>
            </a:r>
            <a:r>
              <a:rPr lang="en-US" altLang="ko-KR" dirty="0"/>
              <a:t>01</a:t>
            </a:r>
            <a:r>
              <a:rPr lang="ko-KR" altLang="en-US" dirty="0"/>
              <a:t>이라는 클래스를 만들어 </a:t>
            </a:r>
            <a:r>
              <a:rPr lang="en-US" altLang="ko-KR" dirty="0" err="1"/>
              <a:t>arrayList</a:t>
            </a:r>
            <a:r>
              <a:rPr lang="ko-KR" altLang="en-US" dirty="0"/>
              <a:t>로 리스트를 생성해줍니다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Add</a:t>
            </a:r>
            <a:r>
              <a:rPr lang="ko-KR" altLang="en-US" dirty="0"/>
              <a:t>를 사용하여 리스트에 요소를 저장하고</a:t>
            </a:r>
            <a:r>
              <a:rPr lang="en-US" altLang="ko-KR" dirty="0"/>
              <a:t>, </a:t>
            </a:r>
            <a:r>
              <a:rPr lang="ko-KR" altLang="en-US" dirty="0"/>
              <a:t>출력하는 간단한 코드입니다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</a:t>
            </a:r>
            <a:r>
              <a:rPr lang="en-US" altLang="ko-KR" dirty="0" err="1"/>
              <a:t>arrayList</a:t>
            </a:r>
            <a:r>
              <a:rPr lang="ko-KR" altLang="en-US" dirty="0"/>
              <a:t>는 아마 </a:t>
            </a:r>
            <a:r>
              <a:rPr lang="en-US" altLang="ko-KR" dirty="0"/>
              <a:t>2</a:t>
            </a:r>
            <a:r>
              <a:rPr lang="ko-KR" altLang="en-US" dirty="0"/>
              <a:t>학년 안드로이드 시간에 사용할 거예요</a:t>
            </a:r>
            <a:r>
              <a:rPr lang="en-US" altLang="ko-KR" dirty="0"/>
              <a:t>!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D8842C-7A3A-4B3A-9C5D-705AA924AB9F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4626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79413" y="490538"/>
            <a:ext cx="6343650" cy="439261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spcAft>
                <a:spcPts val="0"/>
              </a:spcAft>
            </a:pPr>
            <a:r>
              <a:rPr lang="ko-KR" altLang="en-US" b="0" i="0" dirty="0">
                <a:solidFill>
                  <a:srgbClr val="555555"/>
                </a:solidFill>
                <a:effectLst/>
                <a:latin typeface="Spoqa Han Sans"/>
              </a:rPr>
              <a:t>자바의 컬렉션 프레임워크에서는 컬렉션의 요소를 읽기 위한 방법을 </a:t>
            </a:r>
            <a:r>
              <a:rPr lang="ko-KR" altLang="en-US" b="0" i="0" dirty="0" err="1">
                <a:solidFill>
                  <a:srgbClr val="555555"/>
                </a:solidFill>
                <a:effectLst/>
                <a:latin typeface="Spoqa Han Sans"/>
              </a:rPr>
              <a:t>이터레이터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</a:rPr>
              <a:t>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Spoqa Han Sans"/>
              </a:rPr>
              <a:t>인터페이스로 </a:t>
            </a:r>
            <a:r>
              <a:rPr lang="ko-KR" altLang="en-US" b="0" i="0" dirty="0" err="1">
                <a:solidFill>
                  <a:srgbClr val="555555"/>
                </a:solidFill>
                <a:effectLst/>
                <a:latin typeface="Spoqa Han Sans"/>
              </a:rPr>
              <a:t>표준화합니다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</a:rPr>
              <a:t>.</a:t>
            </a:r>
          </a:p>
          <a:p>
            <a:pPr algn="l">
              <a:spcAft>
                <a:spcPts val="0"/>
              </a:spcAft>
            </a:pP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</a:rPr>
              <a:t>Boolean </a:t>
            </a:r>
            <a:r>
              <a:rPr lang="en-US" altLang="ko-KR" b="0" i="0" dirty="0" err="1">
                <a:solidFill>
                  <a:srgbClr val="555555"/>
                </a:solidFill>
                <a:effectLst/>
                <a:latin typeface="Spoqa Han Sans"/>
              </a:rPr>
              <a:t>hasNext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</a:rPr>
              <a:t>(), E next(), void remove()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Spoqa Han Sans"/>
              </a:rPr>
              <a:t>와 같은 메소드를 통해 컬렉션의 요소를 가져옵니다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</a:rPr>
              <a:t>.</a:t>
            </a:r>
          </a:p>
          <a:p>
            <a:pPr algn="l">
              <a:spcAft>
                <a:spcPts val="0"/>
              </a:spcAft>
            </a:pPr>
            <a:r>
              <a:rPr lang="en-US" altLang="ko-KR" b="0" i="0" dirty="0" err="1">
                <a:solidFill>
                  <a:srgbClr val="555555"/>
                </a:solidFill>
                <a:effectLst/>
                <a:latin typeface="Spoqa Han Sans"/>
              </a:rPr>
              <a:t>hasNext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</a:rPr>
              <a:t>()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Spoqa Han Sans"/>
              </a:rPr>
              <a:t>는 다음 요소가 있는지 확인하는 메소드입니다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</a:rPr>
              <a:t>.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Spoqa Han Sans"/>
              </a:rPr>
              <a:t>보통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</a:rPr>
              <a:t>while()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Spoqa Han Sans"/>
              </a:rPr>
              <a:t>문의 조건으로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</a:rPr>
              <a:t>,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Spoqa Han Sans"/>
              </a:rPr>
              <a:t>전체 반복을 통한 요소 접근에 사용됩니다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</a:rPr>
              <a:t>.</a:t>
            </a:r>
          </a:p>
          <a:p>
            <a:pPr algn="l">
              <a:spcAft>
                <a:spcPts val="0"/>
              </a:spcAft>
            </a:pP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</a:rPr>
              <a:t>next()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Spoqa Han Sans"/>
              </a:rPr>
              <a:t>는 다음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</a:rPr>
              <a:t>Object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Spoqa Han Sans"/>
              </a:rPr>
              <a:t>를 가져오고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</a:rPr>
              <a:t>, remove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Spoqa Han Sans"/>
              </a:rPr>
              <a:t>는 제일 최근의 요소를 삭제합니다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</a:rPr>
              <a:t>.</a:t>
            </a:r>
          </a:p>
          <a:p>
            <a:pPr algn="l">
              <a:spcAft>
                <a:spcPts val="0"/>
              </a:spcAft>
            </a:pPr>
            <a:r>
              <a:rPr lang="ko-KR" altLang="en-US" b="0" i="0" dirty="0">
                <a:solidFill>
                  <a:srgbClr val="555555"/>
                </a:solidFill>
                <a:effectLst/>
                <a:latin typeface="Spoqa Han Sans"/>
              </a:rPr>
              <a:t>단독으로 사용될 수 없고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</a:rPr>
              <a:t>, next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Spoqa Han Sans"/>
              </a:rPr>
              <a:t>와 함께 사용되는데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</a:rPr>
              <a:t>,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Spoqa Han Sans"/>
              </a:rPr>
              <a:t>그 이유는 읽어올 값이 있음을 보장하기 위해서 입니다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</a:rPr>
              <a:t>.</a:t>
            </a:r>
          </a:p>
          <a:p>
            <a:pPr algn="l">
              <a:spcAft>
                <a:spcPts val="0"/>
              </a:spcAft>
            </a:pPr>
            <a:r>
              <a:rPr lang="ko-KR" altLang="en-US" b="0" i="0" dirty="0">
                <a:solidFill>
                  <a:srgbClr val="555555"/>
                </a:solidFill>
                <a:effectLst/>
                <a:latin typeface="Spoqa Han Sans"/>
                <a:ea typeface="Dotum" panose="020B0600000101010101" pitchFamily="50" charset="-127"/>
              </a:rPr>
              <a:t>코드를 보면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  <a:ea typeface="Dotum" panose="020B0600000101010101" pitchFamily="50" charset="-127"/>
              </a:rPr>
              <a:t>while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Spoqa Han Sans"/>
                <a:ea typeface="Dotum" panose="020B0600000101010101" pitchFamily="50" charset="-127"/>
              </a:rPr>
              <a:t>문을 통해 다음 요소가 있는지 확인하고 있으면 다음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  <a:ea typeface="Dotum" panose="020B0600000101010101" pitchFamily="50" charset="-127"/>
              </a:rPr>
              <a:t>object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Spoqa Han Sans"/>
                <a:ea typeface="Dotum" panose="020B0600000101010101" pitchFamily="50" charset="-127"/>
              </a:rPr>
              <a:t>를 출력한 후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  <a:ea typeface="Dotum" panose="020B0600000101010101" pitchFamily="50" charset="-127"/>
              </a:rPr>
              <a:t>,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Spoqa Han Sans"/>
                <a:ea typeface="Dotum" panose="020B0600000101010101" pitchFamily="50" charset="-127"/>
              </a:rPr>
              <a:t>가장 최근 요소를 삭제하는 코드입니다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Spoqa Han Sans"/>
                <a:ea typeface="Dotum" panose="020B0600000101010101" pitchFamily="50" charset="-127"/>
              </a:rPr>
              <a:t>.</a:t>
            </a:r>
            <a:endParaRPr lang="ko-KR" altLang="en-US" b="0" i="0" dirty="0">
              <a:solidFill>
                <a:srgbClr val="666666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D8842C-7A3A-4B3A-9C5D-705AA924AB9F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34702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79413" y="490538"/>
            <a:ext cx="6343650" cy="439261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Collection</a:t>
            </a:r>
            <a:r>
              <a:rPr lang="ko-KR" altLang="en-US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확장한 다른 인터페이스와 </a:t>
            </a:r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List </a:t>
            </a:r>
            <a:r>
              <a:rPr lang="ko-KR" altLang="en-US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인터페이스의 가장 큰 차이점은 배열처럼 </a:t>
            </a:r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순서</a:t>
            </a:r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 있다는 것입니다</a:t>
            </a:r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b="0" i="0" dirty="0">
              <a:solidFill>
                <a:srgbClr val="666666"/>
              </a:solidFill>
              <a:effectLst/>
              <a:latin typeface="Spoqa Han Sans"/>
              <a:ea typeface="+mn-ea"/>
            </a:endParaRPr>
          </a:p>
          <a:p>
            <a:pPr algn="l">
              <a:spcAft>
                <a:spcPts val="0"/>
              </a:spcAft>
            </a:pP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순서가 있다는 것은 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List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가 갖고 있는 객체마다 순서 번호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(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인덱스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를 갖고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 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있다는 뜻입니다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. </a:t>
            </a:r>
          </a:p>
          <a:p>
            <a:pPr algn="l">
              <a:spcAft>
                <a:spcPts val="0"/>
              </a:spcAft>
            </a:pP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List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는 배열과 같이 리스트가 갖고 있는 몇 번째 객체를 직접 참조할 수 있습니다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algn="l">
              <a:spcAft>
                <a:spcPts val="0"/>
              </a:spcAft>
            </a:pP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리스트는 객체의 순서를 항상 관리하고 있기 때문에 리스트에 객체를 추가할 때 리스트의</a:t>
            </a:r>
            <a:endParaRPr lang="ko-KR" altLang="en-US" b="0" i="0" dirty="0">
              <a:solidFill>
                <a:srgbClr val="666666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  <a:p>
            <a:pPr algn="l">
              <a:spcAft>
                <a:spcPts val="0"/>
              </a:spcAft>
            </a:pP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맨 끝 부분에만 추가하는 것이 아니라 원하는 위치에 객체를 추가할 수도 있습니다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b="0" i="0" dirty="0">
              <a:solidFill>
                <a:srgbClr val="666666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  <a:p>
            <a:endParaRPr lang="ko-KR" altLang="en-US" b="0" i="0" dirty="0">
              <a:solidFill>
                <a:srgbClr val="666666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  <a:p>
            <a:pPr algn="l"/>
            <a:r>
              <a:rPr lang="en-US" altLang="ko-KR" b="0" i="0" dirty="0" err="1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java.util</a:t>
            </a:r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패키지에서는 </a:t>
            </a:r>
            <a:r>
              <a:rPr lang="en-US" altLang="ko-KR" b="0" i="0" dirty="0" err="1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ArrayList</a:t>
            </a:r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Vector, Stack, LinkedList</a:t>
            </a:r>
            <a:r>
              <a:rPr lang="ko-KR" altLang="en-US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가장 많이 사용하는데</a:t>
            </a:r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b="0" i="0" dirty="0" err="1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ArrayList</a:t>
            </a:r>
            <a:r>
              <a:rPr lang="ko-KR" altLang="en-US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Vector </a:t>
            </a:r>
            <a:r>
              <a:rPr lang="ko-KR" altLang="en-US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클래스의 사용법은 거의 동일하고 기능도 비슷합니다</a:t>
            </a:r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두개의 공통점은 크기 확장이 가능하다는 것이고</a:t>
            </a:r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차이점은 </a:t>
            </a:r>
            <a:r>
              <a:rPr lang="en-US" altLang="ko-KR" b="0" i="0" dirty="0" err="1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ArrayList</a:t>
            </a:r>
            <a:r>
              <a:rPr lang="ko-KR" altLang="en-US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Thread safe</a:t>
            </a:r>
            <a:r>
              <a:rPr lang="ko-KR" altLang="en-US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하지 않고</a:t>
            </a:r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Vector</a:t>
            </a:r>
            <a:r>
              <a:rPr lang="ko-KR" altLang="en-US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Thread safe</a:t>
            </a:r>
            <a:r>
              <a:rPr lang="ko-KR" altLang="en-US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합니다</a:t>
            </a:r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여기서 </a:t>
            </a:r>
            <a:r>
              <a:rPr lang="en-US" altLang="ko-KR" b="0" i="0" dirty="0">
                <a:solidFill>
                  <a:srgbClr val="0057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Thread safe</a:t>
            </a:r>
            <a:r>
              <a:rPr lang="ko-KR" altLang="en-US" b="0" i="0" dirty="0">
                <a:solidFill>
                  <a:srgbClr val="0057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하지 않다는 것은 객체에 여러 명이 달려들어 값을 변경하려고 하면 문제가 발생할 수 있다는 것을 의미합니다</a:t>
            </a:r>
            <a:r>
              <a:rPr lang="en-US" altLang="ko-KR" b="0" i="0" dirty="0">
                <a:solidFill>
                  <a:srgbClr val="0057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0" i="0" dirty="0">
              <a:solidFill>
                <a:srgbClr val="666666"/>
              </a:solidFill>
              <a:effectLst/>
              <a:latin typeface="Spoqa Han Sans"/>
            </a:endParaRPr>
          </a:p>
          <a:p>
            <a:pPr algn="l"/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Stack</a:t>
            </a:r>
            <a:r>
              <a:rPr lang="ko-KR" altLang="en-US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 </a:t>
            </a:r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Vector </a:t>
            </a:r>
            <a:r>
              <a:rPr lang="ko-KR" altLang="en-US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클래스를 확장하는 클래스로</a:t>
            </a:r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i="0" dirty="0" err="1">
                <a:solidFill>
                  <a:srgbClr val="0057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후입선출</a:t>
            </a:r>
            <a:r>
              <a:rPr lang="ko-KR" altLang="en-US" b="0" i="0" dirty="0" err="1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lang="ko-KR" altLang="en-US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지원하기 위해 만들어졌습니다</a:t>
            </a:r>
            <a:r>
              <a:rPr lang="en-US" altLang="ko-KR" b="0" i="0" dirty="0">
                <a:solidFill>
                  <a:srgbClr val="35353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0" i="0" dirty="0">
              <a:solidFill>
                <a:srgbClr val="666666"/>
              </a:solidFill>
              <a:effectLst/>
              <a:latin typeface="Spoqa Han Sans"/>
            </a:endParaRPr>
          </a:p>
          <a:p>
            <a:pPr algn="l"/>
            <a:endParaRPr lang="en-US" altLang="ko-KR" b="0" i="0" dirty="0">
              <a:solidFill>
                <a:srgbClr val="0057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endParaRPr lang="en-US" altLang="ko-KR" b="0" i="0" dirty="0">
              <a:solidFill>
                <a:srgbClr val="0057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D8842C-7A3A-4B3A-9C5D-705AA924AB9F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98875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79413" y="490538"/>
            <a:ext cx="6343650" cy="439261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indent="127000" algn="l">
              <a:spcAft>
                <a:spcPts val="0"/>
              </a:spcAft>
            </a:pP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Dotum" panose="020B0600000101010101" pitchFamily="50" charset="-127"/>
              </a:rPr>
              <a:t>리스트 </a:t>
            </a:r>
            <a:r>
              <a:rPr lang="ko-KR" altLang="en-US" b="0" i="0" dirty="0" err="1">
                <a:solidFill>
                  <a:srgbClr val="666666"/>
                </a:solidFill>
                <a:effectLst/>
                <a:latin typeface="돋움" panose="020B0600000101010101" pitchFamily="50" charset="-127"/>
                <a:ea typeface="Dotum" panose="020B0600000101010101" pitchFamily="50" charset="-127"/>
              </a:rPr>
              <a:t>이터레이터</a:t>
            </a:r>
            <a:r>
              <a:rPr lang="ko-KR" altLang="en-US" b="0" i="0" dirty="0" err="1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는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</a:t>
            </a:r>
            <a:r>
              <a:rPr lang="ko-KR" altLang="en-US" b="0" i="0" dirty="0" err="1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이터레이터를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 상속한 인터페이스입니다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b="0" i="0" dirty="0">
              <a:solidFill>
                <a:srgbClr val="666666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  <a:p>
            <a:pPr algn="l">
              <a:spcAft>
                <a:spcPts val="0"/>
              </a:spcAft>
            </a:pP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Dotum" panose="020B0600000101010101" pitchFamily="50" charset="-127"/>
              </a:rPr>
              <a:t>Collection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에서 제공하는 </a:t>
            </a:r>
            <a:r>
              <a:rPr lang="ko-KR" altLang="en-US" b="0" i="0" dirty="0" err="1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이터레이터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 인터페이스는  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Collection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을 한방향으로 탐색하면서 객체에 대한 정보를 얻어냅니다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b="0" i="0" dirty="0">
              <a:solidFill>
                <a:srgbClr val="666666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  <a:p>
            <a:pPr algn="l">
              <a:spcAft>
                <a:spcPts val="0"/>
              </a:spcAft>
            </a:pP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Dotum" panose="020B0600000101010101" pitchFamily="50" charset="-127"/>
              </a:rPr>
              <a:t>리스트 </a:t>
            </a:r>
            <a:r>
              <a:rPr lang="ko-KR" altLang="en-US" b="0" i="0" dirty="0" err="1">
                <a:solidFill>
                  <a:srgbClr val="666666"/>
                </a:solidFill>
                <a:effectLst/>
                <a:latin typeface="돋움" panose="020B0600000101010101" pitchFamily="50" charset="-127"/>
                <a:ea typeface="Dotum" panose="020B0600000101010101" pitchFamily="50" charset="-127"/>
              </a:rPr>
              <a:t>이터레이터</a:t>
            </a:r>
            <a:r>
              <a:rPr lang="ko-KR" altLang="en-US" b="0" i="0" dirty="0" err="1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는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List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에서 제공하는 인터페이스로 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List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에 포함된 모든 객체를 양방향으로</a:t>
            </a:r>
            <a:endParaRPr lang="ko-KR" altLang="en-US" b="0" i="0" dirty="0">
              <a:solidFill>
                <a:srgbClr val="666666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  <a:p>
            <a:pPr algn="l">
              <a:spcAft>
                <a:spcPts val="0"/>
              </a:spcAft>
            </a:pP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탐색하면서 객체를 꺼낼 수 있는 방법을 제공하고 있습니다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b="0" i="0" dirty="0">
              <a:solidFill>
                <a:srgbClr val="666666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  <a:p>
            <a:pPr algn="l">
              <a:spcAft>
                <a:spcPts val="0"/>
              </a:spcAft>
            </a:pP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프로그래머는 리스트 </a:t>
            </a:r>
            <a:r>
              <a:rPr lang="ko-KR" altLang="en-US" b="0" i="0" dirty="0" err="1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이터레이터를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이용하면 양방향으로 움직여가면서 </a:t>
            </a:r>
            <a:r>
              <a:rPr lang="ko-KR" altLang="en-US" b="0" i="0" dirty="0" err="1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수정이라던가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b="0" i="0" dirty="0" err="1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이터레이터의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 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현재 위치를 알아낼 수 있습니다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algn="l">
              <a:spcAft>
                <a:spcPts val="0"/>
              </a:spcAft>
            </a:pP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List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를 사용하는 경우에는 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Collection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에서 제공하는 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Iterator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는 물론이고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,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 보다 확장된 기능을 갖고 있는 </a:t>
            </a:r>
            <a:r>
              <a:rPr lang="en-US" altLang="ko-KR" b="0" i="0" dirty="0" err="1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ListIterator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도 사용할 수 있습니다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b="0" i="0" dirty="0">
              <a:solidFill>
                <a:srgbClr val="666666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D8842C-7A3A-4B3A-9C5D-705AA924AB9F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9256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79413" y="490538"/>
            <a:ext cx="6343650" cy="439261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연결 리스트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(LinkedList)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는 각 노드가 데이터와 포인터를 가지고 한 줄로 연결되어 있는 방식의 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Iropke Batang"/>
              </a:rPr>
              <a:t>자료구조입니다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.</a:t>
            </a:r>
          </a:p>
          <a:p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데이터를 담고 있는 노드들이 연결되어 있고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,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노드의 포인터가 이전 노드와 다음 노드와의 연결을 담당합니다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.</a:t>
            </a:r>
          </a:p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Node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는 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Iropke Batang"/>
              </a:rPr>
              <a:t>LinkedList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Iropke Batang"/>
              </a:rPr>
              <a:t>에 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객체를 추가하거나 삭제하면 앞뒤 링크만 변경되고 나머지 링크는 변경되지 않습니다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.</a:t>
            </a:r>
          </a:p>
          <a:p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중간에 데이터를 추가나 삭제하더라도 전체의 인덱스가 한 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Iropke Batang"/>
              </a:rPr>
              <a:t>칸씩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 뒤로 밀리거나 당겨지는 일이 없기에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Iropke Batang"/>
              </a:rPr>
              <a:t>ArrayList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에 비해서 데이터의 추가나 삭제가 용이하나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,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인덱스가 없기에 특정 요소에 접근하기 위해서는 순차 탐색이 필요로 하여 탐색 속도가 떨어진다는 단점이 있습니다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.</a:t>
            </a:r>
          </a:p>
          <a:p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그러므로 탐색 또는 정렬을 자주 하는 경우엔 배열을 사용하고 데이터의 추가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/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삭제가 많은 경우 연결 리스트를 사용하는 것이 좋습니다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.</a:t>
            </a:r>
          </a:p>
          <a:p>
            <a:endParaRPr lang="en-US" altLang="ko-KR" b="0" i="0" dirty="0">
              <a:solidFill>
                <a:srgbClr val="222222"/>
              </a:solidFill>
              <a:effectLst/>
              <a:latin typeface="Iropke Batang"/>
            </a:endParaRPr>
          </a:p>
          <a:p>
            <a:r>
              <a:rPr lang="en-US" altLang="ko-KR" b="0" i="0" dirty="0" err="1">
                <a:solidFill>
                  <a:srgbClr val="333333"/>
                </a:solidFill>
                <a:effectLst/>
                <a:latin typeface="Iropke Batang"/>
              </a:rPr>
              <a:t>ArrayList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Iropke Batang"/>
              </a:rPr>
              <a:t>는 내부 배열에 객체를 저장해서 인덱스로 관리하는데 비해서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Iropke Batang"/>
              </a:rPr>
              <a:t>LinkedList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Iropke Batang"/>
              </a:rPr>
              <a:t>는 위와 같이 인접 참조를 링크해서 체인처럼 관리합니다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Iropke Batang"/>
              </a:rPr>
              <a:t>. </a:t>
            </a:r>
            <a:endParaRPr lang="en-US" altLang="ko-KR" b="0" i="0" dirty="0">
              <a:solidFill>
                <a:srgbClr val="222222"/>
              </a:solidFill>
              <a:effectLst/>
              <a:latin typeface="Iropke Batang"/>
            </a:endParaRPr>
          </a:p>
          <a:p>
            <a:endParaRPr lang="en-US" altLang="ko-KR" b="0" i="0" dirty="0">
              <a:solidFill>
                <a:srgbClr val="222222"/>
              </a:solidFill>
              <a:effectLst/>
              <a:latin typeface="Iropke Batang"/>
            </a:endParaRPr>
          </a:p>
          <a:p>
            <a:r>
              <a:rPr lang="en-US" altLang="ko-KR" b="1" i="0" dirty="0">
                <a:solidFill>
                  <a:srgbClr val="222222"/>
                </a:solidFill>
                <a:effectLst/>
                <a:latin typeface="Iropke Batang"/>
              </a:rPr>
              <a:t>LinkedList 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Iropke Batang"/>
              </a:rPr>
              <a:t>선언은 </a:t>
            </a:r>
            <a:r>
              <a:rPr lang="en-US" altLang="ko-KR" b="1" i="0" dirty="0" err="1">
                <a:solidFill>
                  <a:srgbClr val="222222"/>
                </a:solidFill>
                <a:effectLst/>
                <a:latin typeface="Iropke Batang"/>
              </a:rPr>
              <a:t>ArrayList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Iropke Batang"/>
              </a:rPr>
              <a:t>선언 방식과 같습니다</a:t>
            </a:r>
            <a:r>
              <a:rPr lang="en-US" altLang="ko-KR" b="1" i="0" dirty="0">
                <a:solidFill>
                  <a:srgbClr val="222222"/>
                </a:solidFill>
                <a:effectLst/>
                <a:latin typeface="Iropke Batang"/>
              </a:rPr>
              <a:t>.</a:t>
            </a:r>
          </a:p>
          <a:p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다만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LinkedList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에서는 초기의 크기를 미리 생성할 수는 없습니다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.</a:t>
            </a:r>
          </a:p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LinkedList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선언 시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LinkedList list = new LinkedList()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로 선언하고 내부에 임의의 값을 넣어 사용할 수도 있지만 이렇게 사용할 경우 내부의 값을 사용할 때 캐스팅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(Casting)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을 해야 하고 잘못된 타입으로 캐스팅을 한 경우에는 에러가 발생하기에 위와 같은 방식은 추천하지 않습니다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.</a:t>
            </a:r>
          </a:p>
          <a:p>
            <a:endParaRPr lang="en-US" altLang="ko-KR" b="0" i="0" dirty="0">
              <a:solidFill>
                <a:srgbClr val="222222"/>
              </a:solidFill>
              <a:effectLst/>
              <a:latin typeface="Iropke Batang"/>
            </a:endParaRPr>
          </a:p>
          <a:p>
            <a:r>
              <a:rPr lang="en-US" altLang="ko-KR" b="1" i="0" dirty="0">
                <a:solidFill>
                  <a:srgbClr val="222222"/>
                </a:solidFill>
                <a:effectLst/>
                <a:latin typeface="Iropke Batang"/>
              </a:rPr>
              <a:t>LinkedList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Iropke Batang"/>
              </a:rPr>
              <a:t>에 값을 추가하는 방법은 여러 개가 있는데 대중적으로 </a:t>
            </a:r>
            <a:r>
              <a:rPr lang="en-US" altLang="ko-KR" b="1" i="0" dirty="0">
                <a:solidFill>
                  <a:srgbClr val="222222"/>
                </a:solidFill>
                <a:effectLst/>
                <a:latin typeface="Iropke Batang"/>
              </a:rPr>
              <a:t>add(index, value) </a:t>
            </a:r>
            <a:r>
              <a:rPr lang="ko-KR" altLang="en-US" b="1" i="0" dirty="0">
                <a:solidFill>
                  <a:srgbClr val="333333"/>
                </a:solidFill>
                <a:effectLst/>
                <a:latin typeface="Iropke Batang"/>
              </a:rPr>
              <a:t>메소드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Iropke Batang"/>
              </a:rPr>
              <a:t>를 사용합니다</a:t>
            </a:r>
            <a:r>
              <a:rPr lang="en-US" altLang="ko-KR" b="1" i="0" dirty="0">
                <a:solidFill>
                  <a:srgbClr val="222222"/>
                </a:solidFill>
                <a:effectLst/>
                <a:latin typeface="Iropke Batang"/>
              </a:rPr>
              <a:t>.</a:t>
            </a:r>
          </a:p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index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를 생략하면 가장 마지막에 데이터가 추가됩니다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.</a:t>
            </a:r>
          </a:p>
          <a:p>
            <a:r>
              <a:rPr lang="en-US" altLang="ko-KR" b="0" i="0" dirty="0" err="1">
                <a:solidFill>
                  <a:srgbClr val="222222"/>
                </a:solidFill>
                <a:effectLst/>
                <a:latin typeface="Iropke Batang"/>
              </a:rPr>
              <a:t>addFirst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()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함수를 사용하게 되면 가장 앞에 있는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Header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의 값이 변경되고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Iropke Batang"/>
              </a:rPr>
              <a:t>addLast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() 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Iropke Batang"/>
              </a:rPr>
              <a:t>메소드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를 사용하면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LinkedList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맨 뒤에 데이터가 추가됩니다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.</a:t>
            </a:r>
          </a:p>
          <a:p>
            <a:endParaRPr lang="en-US" altLang="ko-KR" dirty="0"/>
          </a:p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LinkedList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의 값이 추가되는 방식은 위의 그림과 같습니다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.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먼저 인자로 받은 값을 가지고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Node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를 생성하여 생성한 노드는 이전 노드는 추가되는 노드를 가리키게 하고 추가되는 노드는 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Iropke Batang"/>
              </a:rPr>
              <a:t>그다음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 노드를 가리키도록 지정합니다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.</a:t>
            </a:r>
          </a:p>
          <a:p>
            <a:endParaRPr lang="en-US" altLang="ko-KR" b="0" i="0" dirty="0">
              <a:solidFill>
                <a:srgbClr val="222222"/>
              </a:solidFill>
              <a:effectLst/>
              <a:latin typeface="Iropke Batang"/>
            </a:endParaRPr>
          </a:p>
          <a:p>
            <a:pPr algn="l"/>
            <a:r>
              <a:rPr lang="en-US" altLang="ko-KR" b="1" i="0" dirty="0">
                <a:solidFill>
                  <a:srgbClr val="222222"/>
                </a:solidFill>
                <a:effectLst/>
                <a:latin typeface="Iropke Batang"/>
              </a:rPr>
              <a:t>LinkedList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Iropke Batang"/>
              </a:rPr>
              <a:t>에 값을 제거하는 방법도 값을 추가하는것과 비슷합니다</a:t>
            </a:r>
            <a:r>
              <a:rPr lang="en-US" altLang="ko-KR" b="1" i="0" dirty="0">
                <a:solidFill>
                  <a:srgbClr val="222222"/>
                </a:solidFill>
                <a:effectLst/>
                <a:latin typeface="Iropke Batang"/>
              </a:rPr>
              <a:t>.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Iropke Batang"/>
              </a:rPr>
              <a:t>removeFirst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() 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Iropke Batang"/>
              </a:rPr>
              <a:t>메소드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를 사용하면 가장 첫 데이터가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Iropke Batang"/>
              </a:rPr>
              <a:t>removeLast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()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를 사용하면 가장 뒤에 있는 데이터가 삭제됩니다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. remove(index, value)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를 사용하여 특정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index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의 값을 제거할 수도 있습니다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.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값을 전부 제거하려면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clear()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Iropke Batang"/>
              </a:rPr>
              <a:t>메소드를 사용하면 됩니다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Iropke Batang"/>
              </a:rPr>
              <a:t>.</a:t>
            </a:r>
          </a:p>
          <a:p>
            <a:br>
              <a:rPr lang="ko-KR" altLang="en-US" dirty="0"/>
            </a:br>
            <a:r>
              <a:rPr lang="en-US" altLang="ko-KR" b="1" i="0" dirty="0">
                <a:solidFill>
                  <a:srgbClr val="333333"/>
                </a:solidFill>
                <a:effectLst/>
                <a:latin typeface="Iropke Batang"/>
              </a:rPr>
              <a:t>LinkedList</a:t>
            </a:r>
            <a:r>
              <a:rPr lang="ko-KR" altLang="en-US" b="1" i="0" dirty="0">
                <a:solidFill>
                  <a:srgbClr val="333333"/>
                </a:solidFill>
                <a:effectLst/>
                <a:latin typeface="Iropke Batang"/>
              </a:rPr>
              <a:t>의 값이 제거되는 방식은 위의 그림과 같습니다</a:t>
            </a:r>
            <a:r>
              <a:rPr lang="en-US" altLang="ko-KR" b="1" i="0" dirty="0">
                <a:solidFill>
                  <a:srgbClr val="333333"/>
                </a:solidFill>
                <a:effectLst/>
                <a:latin typeface="Iropke Batang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Iropke Batang"/>
              </a:rPr>
              <a:t>삭제 대상 노드의 이전의 노드가 삭제 대상 노드의 다음의 노드를 가리키게 하고 해당 노드는 삭제 됩니다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Iropke Batang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D8842C-7A3A-4B3A-9C5D-705AA924AB9F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6736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메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:\alba\logo\ppt_bg\003.jpg"/>
          <p:cNvPicPr>
            <a:picLocks noChangeAspect="1" noChangeArrowheads="1"/>
          </p:cNvPicPr>
          <p:nvPr userDrawn="1"/>
        </p:nvPicPr>
        <p:blipFill>
          <a:blip r:embed="rId2" cstate="screen">
            <a:lum bright="52000" contrast="64000"/>
          </a:blip>
          <a:srcRect/>
          <a:stretch>
            <a:fillRect/>
          </a:stretch>
        </p:blipFill>
        <p:spPr bwMode="auto">
          <a:xfrm>
            <a:off x="-4118" y="0"/>
            <a:ext cx="9906000" cy="6858000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5058" y="309539"/>
            <a:ext cx="5524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 userDrawn="1"/>
        </p:nvSpPr>
        <p:spPr>
          <a:xfrm>
            <a:off x="780836" y="57624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해커스칼리지</a:t>
            </a:r>
            <a:endParaRPr lang="ko-KR" altLang="en-US" sz="1600" b="1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785789" y="357170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정보보안전문교육센터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:\alba\logo\ppt_bg\003.jpg"/>
          <p:cNvPicPr>
            <a:picLocks noChangeAspect="1" noChangeArrowheads="1"/>
          </p:cNvPicPr>
          <p:nvPr userDrawn="1"/>
        </p:nvPicPr>
        <p:blipFill>
          <a:blip r:embed="rId2" cstate="screen">
            <a:lum bright="72000"/>
          </a:blip>
          <a:stretch>
            <a:fillRect/>
          </a:stretch>
        </p:blipFill>
        <p:spPr bwMode="auto">
          <a:xfrm>
            <a:off x="0" y="-1"/>
            <a:ext cx="990956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모서리가 둥근 직사각형 4"/>
          <p:cNvSpPr/>
          <p:nvPr userDrawn="1"/>
        </p:nvSpPr>
        <p:spPr>
          <a:xfrm>
            <a:off x="1625181" y="2214554"/>
            <a:ext cx="6655640" cy="1643074"/>
          </a:xfrm>
          <a:prstGeom prst="roundRect">
            <a:avLst/>
          </a:prstGeom>
          <a:ln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ko-KR" altLang="en-US" sz="4400" b="1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제목 14"/>
          <p:cNvSpPr>
            <a:spLocks noGrp="1"/>
          </p:cNvSpPr>
          <p:nvPr>
            <p:ph type="title"/>
          </p:nvPr>
        </p:nvSpPr>
        <p:spPr>
          <a:xfrm>
            <a:off x="1702571" y="2271683"/>
            <a:ext cx="6500858" cy="1514508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7" name="Picture 2" descr="E:\document\usbbackup\방패.gif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13440" y="260652"/>
            <a:ext cx="677274" cy="64294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서브 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1238238" y="1071549"/>
            <a:ext cx="7429553" cy="4286280"/>
          </a:xfrm>
          <a:prstGeom prst="rect">
            <a:avLst/>
          </a:prstGeo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/>
          <p:cNvSpPr/>
          <p:nvPr userDrawn="1"/>
        </p:nvSpPr>
        <p:spPr>
          <a:xfrm>
            <a:off x="1452540" y="1928805"/>
            <a:ext cx="6929488" cy="32147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glow rad="228600">
              <a:schemeClr val="accent2">
                <a:satMod val="175000"/>
                <a:alpha val="40000"/>
              </a:schemeClr>
            </a:glow>
            <a:outerShdw blurRad="50800" dist="254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10"/>
          </p:nvPr>
        </p:nvSpPr>
        <p:spPr>
          <a:xfrm>
            <a:off x="1524003" y="2000258"/>
            <a:ext cx="6786563" cy="3071813"/>
          </a:xfrm>
        </p:spPr>
        <p:txBody>
          <a:bodyPr/>
          <a:lstStyle>
            <a:lvl1pPr>
              <a:defRPr lang="ko-KR" altLang="en-US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일반페이지 레이아웃(lvun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7"/>
          <p:cNvSpPr>
            <a:spLocks noGrp="1"/>
          </p:cNvSpPr>
          <p:nvPr>
            <p:ph sz="quarter" idx="1" hasCustomPrompt="1"/>
          </p:nvPr>
        </p:nvSpPr>
        <p:spPr>
          <a:xfrm>
            <a:off x="238111" y="1000110"/>
            <a:ext cx="9429809" cy="5357850"/>
          </a:xfrm>
        </p:spPr>
        <p:txBody>
          <a:bodyPr tIns="46795"/>
          <a:lstStyle>
            <a:lvl1pPr>
              <a:buFont typeface="Wingdings" pitchFamily="2" charset="2"/>
              <a:buChar char="v"/>
              <a:defRPr sz="2400" b="0" spc="0">
                <a:latin typeface="Arial Rounded MT Bold" pitchFamily="34" charset="0"/>
                <a:ea typeface="맑은 고딕" pitchFamily="50" charset="-127"/>
              </a:defRPr>
            </a:lvl1pPr>
            <a:lvl2pPr>
              <a:lnSpc>
                <a:spcPct val="100000"/>
              </a:lnSpc>
              <a:buFont typeface="Wingdings" pitchFamily="2" charset="2"/>
              <a:buChar char="l"/>
              <a:defRPr spc="0">
                <a:latin typeface="Arial Rounded MT Bold" pitchFamily="34" charset="0"/>
                <a:ea typeface="맑은 고딕" pitchFamily="50" charset="-127"/>
              </a:defRPr>
            </a:lvl2pPr>
            <a:lvl3pPr>
              <a:defRPr sz="1800" spc="0">
                <a:latin typeface="맑은 고딕" pitchFamily="50" charset="-127"/>
                <a:ea typeface="맑은 고딕" pitchFamily="50" charset="-127"/>
              </a:defRPr>
            </a:lvl3pPr>
            <a:lvl4pPr>
              <a:defRPr sz="1800" spc="0">
                <a:latin typeface="맑은 고딕" pitchFamily="50" charset="-127"/>
                <a:ea typeface="맑은 고딕" pitchFamily="50" charset="-127"/>
              </a:defRPr>
            </a:lvl4pPr>
            <a:lvl5pPr>
              <a:defRPr sz="1400" spc="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스타일을 편집합니다 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lang="en-US" altLang="ko-KR" sz="3600" b="1" kern="1200" dirty="0">
                <a:solidFill>
                  <a:schemeClr val="tx1"/>
                </a:solidFill>
                <a:latin typeface="Arial Rounded MT Bold" pitchFamily="34" charset="0"/>
                <a:ea typeface="맑은 고딕" pitchFamily="50" charset="-127"/>
                <a:cs typeface="+mj-cs"/>
              </a:defRPr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 hasCustomPrompt="1"/>
          </p:nvPr>
        </p:nvSpPr>
        <p:spPr>
          <a:xfrm>
            <a:off x="326898" y="1142984"/>
            <a:ext cx="9212580" cy="4956064"/>
          </a:xfrm>
        </p:spPr>
        <p:txBody>
          <a:bodyPr/>
          <a:lstStyle>
            <a:lvl1pPr>
              <a:buFont typeface="Wingdings" pitchFamily="2" charset="2"/>
              <a:buChar char="v"/>
              <a:defRPr sz="2600">
                <a:latin typeface="Arial Rounded MT Bold" pitchFamily="34" charset="0"/>
                <a:ea typeface="맑은 고딕" pitchFamily="50" charset="-127"/>
              </a:defRPr>
            </a:lvl1pPr>
            <a:lvl2pPr>
              <a:buFont typeface="Wingdings" pitchFamily="2" charset="2"/>
              <a:buChar char="l"/>
              <a:defRPr>
                <a:latin typeface="Arial Rounded MT Bold" pitchFamily="34" charset="0"/>
                <a:ea typeface="맑은 고딕" pitchFamily="50" charset="-127"/>
              </a:defRPr>
            </a:lvl2pPr>
            <a:lvl3pPr>
              <a:defRPr>
                <a:latin typeface="맑은 고딕" pitchFamily="50" charset="-127"/>
                <a:ea typeface="맑은 고딕" pitchFamily="50" charset="-127"/>
              </a:defRPr>
            </a:lvl3pPr>
            <a:lvl4pPr>
              <a:defRPr>
                <a:latin typeface="맑은 고딕" pitchFamily="50" charset="-127"/>
                <a:ea typeface="맑은 고딕" pitchFamily="50" charset="-127"/>
              </a:defRPr>
            </a:lvl4pPr>
            <a:lvl5pPr>
              <a:defRPr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스타일을 편집합니다 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gi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238111" y="1000119"/>
            <a:ext cx="9429809" cy="5286413"/>
          </a:xfrm>
          <a:prstGeom prst="rect">
            <a:avLst/>
          </a:prstGeom>
        </p:spPr>
        <p:txBody>
          <a:bodyPr vert="horz" lIns="91431" tIns="45715" rIns="91431" bIns="45715">
            <a:normAutofit/>
          </a:bodyPr>
          <a:lstStyle/>
          <a:p>
            <a:pPr lvl="0" eaLnBrk="1" latinLnBrk="0" hangingPunct="1"/>
            <a:r>
              <a:rPr lang="ko-KR" altLang="en-US" dirty="0"/>
              <a:t>마스터 텍스트 스타일을 편집합니다 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14" name="제목 개체 틀 13"/>
          <p:cNvSpPr>
            <a:spLocks noGrp="1"/>
          </p:cNvSpPr>
          <p:nvPr>
            <p:ph type="title"/>
          </p:nvPr>
        </p:nvSpPr>
        <p:spPr>
          <a:xfrm>
            <a:off x="252453" y="274654"/>
            <a:ext cx="8629650" cy="5825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166668" y="928672"/>
            <a:ext cx="9572692" cy="159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E:\document\usbbackup\방패.gi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985448" y="188641"/>
            <a:ext cx="677274" cy="64294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97" r:id="rId1"/>
    <p:sldLayoutId id="2147484898" r:id="rId2"/>
    <p:sldLayoutId id="2147484896" r:id="rId3"/>
    <p:sldLayoutId id="2147484895" r:id="rId4"/>
    <p:sldLayoutId id="2147484900" r:id="rId5"/>
  </p:sldLayoutIdLst>
  <p:hf sldNum="0" hdr="0" dt="0"/>
  <p:txStyles>
    <p:titleStyle>
      <a:lvl1pPr algn="l" rtl="0" eaLnBrk="1" latinLnBrk="1" hangingPunct="1">
        <a:spcBef>
          <a:spcPct val="0"/>
        </a:spcBef>
        <a:buNone/>
        <a:defRPr kumimoji="0" lang="ko-KR" altLang="en-US" sz="3200" b="1" kern="1200" dirty="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j-cs"/>
        </a:defRPr>
      </a:lvl1pPr>
    </p:titleStyle>
    <p:bodyStyle>
      <a:lvl1pPr marL="274292" indent="-274292" algn="l" rtl="0" eaLnBrk="1" latinLnBrk="1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584" indent="-274292" algn="l" rtl="0" eaLnBrk="1" latinLnBrk="1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876" indent="-228577" algn="l" rtl="0" eaLnBrk="1" latinLnBrk="1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168" indent="-228577" algn="l" rtl="0" eaLnBrk="1" latinLnBrk="1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460" indent="-228577" algn="l" rtl="0" eaLnBrk="1" latinLnBrk="1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753" indent="-182861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045" indent="-182861" algn="l" rtl="0" eaLnBrk="1" latinLnBrk="1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2906" indent="-182861" algn="l" rtl="0" eaLnBrk="1" latinLnBrk="1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198" indent="-182861" algn="l" rtl="0" eaLnBrk="1" latinLnBrk="1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3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7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4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7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1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74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8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81101" y="2428868"/>
            <a:ext cx="7143800" cy="1071570"/>
          </a:xfrm>
        </p:spPr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2020 TUTORING - JAVA</a:t>
            </a:r>
            <a:endParaRPr lang="ko-KR" altLang="en-US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344488" y="1556792"/>
            <a:ext cx="9212580" cy="4740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1. </a:t>
            </a:r>
            <a:r>
              <a:rPr lang="ko-KR" altLang="en-US" b="1" dirty="0"/>
              <a:t>객체지향 프로그래밍</a:t>
            </a:r>
            <a:endParaRPr lang="en-US" altLang="ko-KR" sz="100" b="1" dirty="0"/>
          </a:p>
          <a:p>
            <a:pPr lvl="1"/>
            <a:r>
              <a:rPr lang="ko-KR" altLang="en-US" b="1" dirty="0"/>
              <a:t>추상화</a:t>
            </a:r>
            <a:r>
              <a:rPr lang="en-US" altLang="ko-KR" b="1" dirty="0"/>
              <a:t>, </a:t>
            </a:r>
            <a:r>
              <a:rPr lang="ko-KR" altLang="en-US" b="1" dirty="0"/>
              <a:t>상속</a:t>
            </a:r>
            <a:r>
              <a:rPr lang="en-US" altLang="ko-KR" b="1" dirty="0"/>
              <a:t>, </a:t>
            </a:r>
            <a:r>
              <a:rPr lang="ko-KR" altLang="en-US" b="1" dirty="0"/>
              <a:t>캡슐화</a:t>
            </a:r>
            <a:r>
              <a:rPr lang="en-US" altLang="ko-KR" b="1" dirty="0"/>
              <a:t>, </a:t>
            </a:r>
            <a:r>
              <a:rPr lang="ko-KR" altLang="en-US" b="1" dirty="0" err="1"/>
              <a:t>다형성</a:t>
            </a:r>
            <a:endParaRPr lang="en-US" altLang="ko-KR" sz="100" b="1" dirty="0"/>
          </a:p>
          <a:p>
            <a:pPr lvl="1"/>
            <a:r>
              <a:rPr lang="ko-KR" altLang="en-US" b="1" dirty="0"/>
              <a:t>생성자 오버로딩</a:t>
            </a:r>
            <a:endParaRPr lang="en-US" altLang="ko-KR" b="1" dirty="0"/>
          </a:p>
          <a:p>
            <a:endParaRPr lang="en-US" altLang="ko-KR" sz="1800" b="1" dirty="0"/>
          </a:p>
          <a:p>
            <a:endParaRPr lang="en-US" altLang="ko-KR" sz="1800" b="1" dirty="0"/>
          </a:p>
          <a:p>
            <a:pPr marL="0" indent="0">
              <a:buNone/>
            </a:pPr>
            <a:r>
              <a:rPr lang="en-US" altLang="ko-KR" b="1" dirty="0"/>
              <a:t>3-1. </a:t>
            </a:r>
            <a:r>
              <a:rPr lang="ko-KR" altLang="en-US" b="1" dirty="0"/>
              <a:t>컬렉션 프레임워크</a:t>
            </a:r>
            <a:endParaRPr lang="en-US" altLang="ko-KR" b="1" dirty="0"/>
          </a:p>
          <a:p>
            <a:pPr lvl="1"/>
            <a:r>
              <a:rPr lang="ko-KR" altLang="en-US" b="1" dirty="0"/>
              <a:t>인터페이스 계층</a:t>
            </a:r>
            <a:endParaRPr lang="en-US" altLang="ko-KR" b="1" dirty="0"/>
          </a:p>
          <a:p>
            <a:pPr lvl="1"/>
            <a:r>
              <a:rPr lang="en-US" altLang="ko-KR" b="1" dirty="0"/>
              <a:t>Collection</a:t>
            </a:r>
            <a:r>
              <a:rPr lang="ko-KR" altLang="en-US" b="1" dirty="0"/>
              <a:t>과 </a:t>
            </a:r>
            <a:r>
              <a:rPr lang="en-US" altLang="ko-KR" b="1" dirty="0"/>
              <a:t>Map</a:t>
            </a:r>
          </a:p>
          <a:p>
            <a:pPr lvl="1"/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Iterator</a:t>
            </a: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ko-KR" b="1" dirty="0"/>
              <a:t>List</a:t>
            </a:r>
          </a:p>
          <a:p>
            <a:pPr lvl="1"/>
            <a:r>
              <a:rPr lang="en-US" altLang="ko-KR" b="1" dirty="0"/>
              <a:t>LinkedList</a:t>
            </a:r>
          </a:p>
          <a:p>
            <a:pPr lvl="1"/>
            <a:endParaRPr lang="en-US" altLang="ko-KR" b="1" dirty="0"/>
          </a:p>
          <a:p>
            <a:endParaRPr lang="en-US" altLang="ko-KR" b="1" dirty="0"/>
          </a:p>
          <a:p>
            <a:pPr lvl="1"/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dirty="0"/>
          </a:p>
          <a:p>
            <a:pPr marL="274292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9662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81101" y="2428868"/>
            <a:ext cx="7143800" cy="1071570"/>
          </a:xfrm>
        </p:spPr>
        <p:txBody>
          <a:bodyPr/>
          <a:lstStyle/>
          <a:p>
            <a:r>
              <a:rPr lang="ko-KR" altLang="en-US" dirty="0"/>
              <a:t>객체지향 프로그래밍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05374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추상화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346710" y="1154718"/>
            <a:ext cx="9212580" cy="5428627"/>
          </a:xfrm>
        </p:spPr>
        <p:txBody>
          <a:bodyPr>
            <a:normAutofit/>
          </a:bodyPr>
          <a:lstStyle/>
          <a:p>
            <a:r>
              <a:rPr lang="en-US" altLang="ko-KR" dirty="0"/>
              <a:t>Abstract</a:t>
            </a:r>
          </a:p>
          <a:p>
            <a:endParaRPr lang="en-US" altLang="ko-KR" sz="1200" dirty="0"/>
          </a:p>
          <a:p>
            <a:pPr lvl="1"/>
            <a:r>
              <a:rPr lang="ko-KR" altLang="en-US" dirty="0"/>
              <a:t>객체에서 불필요한 부분을 제거하여 필요한 부분만을 간결하고 이해하기 쉬운 클래스로 만드는 작업</a:t>
            </a:r>
            <a:endParaRPr lang="en-US" altLang="ko-KR" b="0" i="0" dirty="0">
              <a:solidFill>
                <a:srgbClr val="666666"/>
              </a:solidFill>
              <a:effectLst/>
              <a:latin typeface="Spoqa Han Sans"/>
            </a:endParaRPr>
          </a:p>
          <a:p>
            <a:pPr lvl="1"/>
            <a:endParaRPr lang="en-US" altLang="ko-KR" sz="1200" dirty="0"/>
          </a:p>
          <a:p>
            <a:pPr lvl="1"/>
            <a:r>
              <a:rPr lang="ko-KR" altLang="en-US" dirty="0"/>
              <a:t>속성과 행동으로 추상화를 실현</a:t>
            </a:r>
            <a:endParaRPr lang="en-US" altLang="ko-KR" dirty="0"/>
          </a:p>
          <a:p>
            <a:pPr lvl="1"/>
            <a:endParaRPr lang="en-US" altLang="ko-KR" sz="1100" dirty="0"/>
          </a:p>
          <a:p>
            <a:pPr lvl="2"/>
            <a:r>
              <a:rPr lang="ko-KR" altLang="en-US" dirty="0"/>
              <a:t>속성 </a:t>
            </a:r>
            <a:r>
              <a:rPr lang="en-US" altLang="ko-KR" dirty="0"/>
              <a:t>: </a:t>
            </a:r>
          </a:p>
          <a:p>
            <a:pPr lvl="3"/>
            <a:r>
              <a:rPr lang="ko-KR" altLang="en-US" dirty="0"/>
              <a:t>객체의 특성을 표현하는 정적인 성질</a:t>
            </a:r>
            <a:endParaRPr lang="en-US" altLang="ko-KR" dirty="0"/>
          </a:p>
          <a:p>
            <a:pPr lvl="3"/>
            <a:r>
              <a:rPr lang="en-US" altLang="ko-KR" dirty="0"/>
              <a:t> </a:t>
            </a:r>
            <a:r>
              <a:rPr lang="ko-KR" altLang="en-US" sz="2000" dirty="0"/>
              <a:t>프로그래밍에서 속성은 필드라 함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marL="1142883" lvl="4" indent="0">
              <a:buNone/>
            </a:pPr>
            <a:r>
              <a:rPr lang="en-US" altLang="ko-KR" dirty="0"/>
              <a:t>  </a:t>
            </a:r>
          </a:p>
          <a:p>
            <a:pPr lvl="2"/>
            <a:r>
              <a:rPr lang="ko-KR" altLang="en-US" dirty="0"/>
              <a:t>행동</a:t>
            </a:r>
            <a:endParaRPr lang="en-US" altLang="ko-KR" dirty="0"/>
          </a:p>
          <a:p>
            <a:pPr lvl="3"/>
            <a:r>
              <a:rPr lang="ko-KR" altLang="en-US" dirty="0"/>
              <a:t>객체 내부의 일을 처리하거나 객체들 간의 서로 영향을 주고 받는 동적인 일을 처리하는 단위</a:t>
            </a:r>
            <a:r>
              <a:rPr lang="en-US" altLang="ko-KR" dirty="0"/>
              <a:t> </a:t>
            </a:r>
          </a:p>
          <a:p>
            <a:pPr lvl="3"/>
            <a:r>
              <a:rPr lang="ko-KR" altLang="en-US" dirty="0"/>
              <a:t>프로그래밍에서 행동은 메소드라 함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D8C152-5AF7-4376-802A-5B7D92085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12" y="1226529"/>
            <a:ext cx="5791200" cy="4229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73A7135-0EF6-4E8C-A650-47F11C47D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701" y="3070816"/>
            <a:ext cx="614362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488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상속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4D92A3D-8F52-4F75-9A9D-D898F5F5875F}"/>
              </a:ext>
            </a:extLst>
          </p:cNvPr>
          <p:cNvSpPr txBox="1">
            <a:spLocks/>
          </p:cNvSpPr>
          <p:nvPr/>
        </p:nvSpPr>
        <p:spPr>
          <a:xfrm>
            <a:off x="344488" y="1412776"/>
            <a:ext cx="9212580" cy="4884056"/>
          </a:xfrm>
          <a:prstGeom prst="rect">
            <a:avLst/>
          </a:prstGeom>
        </p:spPr>
        <p:txBody>
          <a:bodyPr vert="horz" lIns="91431" tIns="45715" rIns="91431" bIns="45715">
            <a:normAutofit/>
          </a:bodyPr>
          <a:lstStyle>
            <a:lvl1pPr marL="274292" indent="-274292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Char char="v"/>
              <a:defRPr kumimoji="0" sz="2600" kern="1200">
                <a:solidFill>
                  <a:schemeClr val="tx1"/>
                </a:solidFill>
                <a:latin typeface="Arial Rounded MT Bold" pitchFamily="34" charset="0"/>
                <a:ea typeface="맑은 고딕" pitchFamily="50" charset="-127"/>
                <a:cs typeface="+mn-cs"/>
              </a:defRPr>
            </a:lvl1pPr>
            <a:lvl2pPr marL="548584" indent="-274292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0" sz="2200" kern="1200">
                <a:solidFill>
                  <a:schemeClr val="tx2"/>
                </a:solidFill>
                <a:latin typeface="Arial Rounded MT Bold" pitchFamily="34" charset="0"/>
                <a:ea typeface="맑은 고딕" pitchFamily="50" charset="-127"/>
                <a:cs typeface="+mn-cs"/>
              </a:defRPr>
            </a:lvl2pPr>
            <a:lvl3pPr marL="822876" indent="-228577" algn="l" rtl="0" eaLnBrk="1" latinLnBrk="1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097168" indent="-228577" algn="l" rtl="0" eaLnBrk="1" latinLnBrk="1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371460" indent="-228577" algn="l" rtl="0" eaLnBrk="1" latinLnBrk="1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1645753" indent="-182861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045" indent="-182861" algn="l" rtl="0" eaLnBrk="1" latinLnBrk="1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2906" indent="-182861" algn="l" rtl="0" eaLnBrk="1" latinLnBrk="1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198" indent="-182861" algn="l" rtl="0" eaLnBrk="1" latinLnBrk="1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ko-KR" altLang="en-US" dirty="0"/>
              <a:t>상속 </a:t>
            </a:r>
            <a:r>
              <a:rPr lang="en-US" altLang="ko-KR" dirty="0"/>
              <a:t>= </a:t>
            </a:r>
            <a:r>
              <a:rPr lang="ko-KR" altLang="en-US" dirty="0"/>
              <a:t>재사용 </a:t>
            </a:r>
            <a:r>
              <a:rPr lang="en-US" altLang="ko-KR" dirty="0"/>
              <a:t>+ </a:t>
            </a:r>
            <a:r>
              <a:rPr lang="ko-KR" altLang="en-US" dirty="0"/>
              <a:t>확장</a:t>
            </a:r>
            <a:endParaRPr lang="en-US" altLang="ko-KR" dirty="0"/>
          </a:p>
          <a:p>
            <a:pPr defTabSz="914400"/>
            <a:endParaRPr lang="en-US" altLang="ko-KR" sz="300" dirty="0"/>
          </a:p>
          <a:p>
            <a:pPr defTabSz="914400"/>
            <a:endParaRPr lang="en-US" altLang="ko-KR" sz="100" b="1" dirty="0"/>
          </a:p>
          <a:p>
            <a:pPr lvl="1" defTabSz="914400"/>
            <a:r>
              <a:rPr lang="ko-KR" altLang="en-US" b="1" dirty="0"/>
              <a:t>프로그램을 쉽게 확장할 수 있도록 해주는 수단</a:t>
            </a:r>
            <a:endParaRPr lang="en-US" altLang="ko-KR" b="1" dirty="0"/>
          </a:p>
          <a:p>
            <a:pPr lvl="1" defTabSz="914400"/>
            <a:endParaRPr lang="en-US" altLang="ko-KR" sz="1000" b="1" dirty="0"/>
          </a:p>
          <a:p>
            <a:pPr lvl="1" defTabSz="914400"/>
            <a:r>
              <a:rPr lang="ko-KR" altLang="en-US" b="1" dirty="0"/>
              <a:t>공통의 특성을 하위 클래스마다 반복적으로 기술하지 않고 한 번만 기술하기 때문에 중복을 줄여 재사용성의 효과를 얻음</a:t>
            </a:r>
            <a:endParaRPr lang="en-US" altLang="ko-KR" b="1" dirty="0"/>
          </a:p>
          <a:p>
            <a:pPr defTabSz="914400"/>
            <a:endParaRPr lang="en-US" altLang="ko-KR" b="1" dirty="0"/>
          </a:p>
          <a:p>
            <a:pPr marL="0" indent="0" defTabSz="914400">
              <a:buFont typeface="Wingdings" pitchFamily="2" charset="2"/>
              <a:buNone/>
            </a:pPr>
            <a:endParaRPr lang="en-US" altLang="ko-KR" b="1" dirty="0"/>
          </a:p>
          <a:p>
            <a:pPr lvl="1" defTabSz="914400"/>
            <a:endParaRPr lang="en-US" altLang="ko-KR" b="1" dirty="0"/>
          </a:p>
          <a:p>
            <a:pPr defTabSz="914400"/>
            <a:endParaRPr lang="en-US" altLang="ko-KR" b="1" dirty="0"/>
          </a:p>
          <a:p>
            <a:pPr marL="274292" lvl="1" indent="0" defTabSz="914400">
              <a:buFont typeface="Wingdings" pitchFamily="2" charset="2"/>
              <a:buNone/>
            </a:pPr>
            <a:endParaRPr lang="en-US" altLang="ko-KR" b="1" dirty="0"/>
          </a:p>
          <a:p>
            <a:pPr defTabSz="914400"/>
            <a:endParaRPr lang="en-US" altLang="ko-KR" b="1" dirty="0"/>
          </a:p>
          <a:p>
            <a:pPr lvl="1" defTabSz="914400"/>
            <a:endParaRPr lang="en-US" altLang="ko-KR" b="1" dirty="0"/>
          </a:p>
          <a:p>
            <a:pPr defTabSz="914400"/>
            <a:endParaRPr lang="en-US" altLang="ko-KR" b="1" dirty="0"/>
          </a:p>
          <a:p>
            <a:pPr lvl="1" defTabSz="914400"/>
            <a:endParaRPr lang="en-US" altLang="ko-KR" b="1" dirty="0"/>
          </a:p>
          <a:p>
            <a:pPr defTabSz="914400"/>
            <a:endParaRPr lang="en-US" altLang="ko-KR" b="1" dirty="0"/>
          </a:p>
          <a:p>
            <a:pPr defTabSz="914400"/>
            <a:endParaRPr lang="en-US" altLang="ko-KR" b="1" dirty="0"/>
          </a:p>
          <a:p>
            <a:pPr defTabSz="914400"/>
            <a:endParaRPr lang="en-US" altLang="ko-KR" b="1" dirty="0"/>
          </a:p>
          <a:p>
            <a:pPr defTabSz="914400"/>
            <a:endParaRPr lang="en-US" altLang="ko-KR" dirty="0"/>
          </a:p>
          <a:p>
            <a:pPr marL="274292" lvl="1" indent="0" defTabSz="914400">
              <a:buFont typeface="Wingdings" pitchFamily="2" charset="2"/>
              <a:buNone/>
            </a:pP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6D21BB2-6465-4DD1-ACDA-16CA3BCE5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656" y="3717032"/>
            <a:ext cx="7272809" cy="1013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0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캡슐화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346710" y="1268760"/>
            <a:ext cx="9212580" cy="4842023"/>
          </a:xfrm>
        </p:spPr>
        <p:txBody>
          <a:bodyPr>
            <a:normAutofit/>
          </a:bodyPr>
          <a:lstStyle/>
          <a:p>
            <a:r>
              <a:rPr lang="ko-KR" altLang="en-US" dirty="0"/>
              <a:t>캡슐화 </a:t>
            </a:r>
            <a:r>
              <a:rPr lang="en-US" altLang="ko-KR" dirty="0"/>
              <a:t>= </a:t>
            </a:r>
            <a:r>
              <a:rPr lang="ko-KR" altLang="en-US" dirty="0"/>
              <a:t>정보 은닉</a:t>
            </a:r>
            <a:endParaRPr lang="en-US" altLang="ko-KR" dirty="0"/>
          </a:p>
          <a:p>
            <a:endParaRPr lang="en-US" altLang="ko-KR" sz="100" dirty="0"/>
          </a:p>
          <a:p>
            <a:endParaRPr lang="en-US" altLang="ko-KR" sz="600" dirty="0"/>
          </a:p>
          <a:p>
            <a:pPr lvl="1"/>
            <a:r>
              <a:rPr lang="ko-KR" altLang="en-US" dirty="0"/>
              <a:t>객체와 객체 간의 의사 소통을 위한 정보만을 노출</a:t>
            </a:r>
            <a:endParaRPr lang="en-US" altLang="ko-KR" dirty="0"/>
          </a:p>
          <a:p>
            <a:pPr lvl="2"/>
            <a:r>
              <a:rPr lang="ko-KR" altLang="en-US" dirty="0"/>
              <a:t>실제 내부 구현 정보는 숨기는 원리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접근제어자</a:t>
            </a:r>
            <a:r>
              <a:rPr lang="en-US" altLang="ko-KR" dirty="0"/>
              <a:t>(private, protected, public)</a:t>
            </a:r>
            <a:r>
              <a:rPr lang="ko-KR" altLang="en-US" dirty="0"/>
              <a:t>를 사용해 객체 외부에서 내부 데이터의 접근을 통제하는 것이다</a:t>
            </a:r>
            <a:r>
              <a:rPr lang="en-US" altLang="ko-KR" dirty="0"/>
              <a:t>.</a:t>
            </a:r>
          </a:p>
          <a:p>
            <a:pPr lvl="1"/>
            <a:endParaRPr lang="en-US" altLang="ko-KR" sz="400" dirty="0"/>
          </a:p>
          <a:p>
            <a:pPr lvl="2"/>
            <a:r>
              <a:rPr lang="ko-KR" altLang="en-US" dirty="0"/>
              <a:t>보통 </a:t>
            </a:r>
            <a:r>
              <a:rPr lang="en-US" altLang="ko-KR" dirty="0"/>
              <a:t>public</a:t>
            </a:r>
            <a:r>
              <a:rPr lang="ko-KR" altLang="en-US" dirty="0"/>
              <a:t>한 메소드에서만 접근 가능하게 해서 </a:t>
            </a:r>
            <a:r>
              <a:rPr lang="ko-KR" altLang="en-US" dirty="0" err="1"/>
              <a:t>인터페이싱을</a:t>
            </a:r>
            <a:r>
              <a:rPr lang="ko-KR" altLang="en-US" dirty="0"/>
              <a:t> 맞춤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42608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다형성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6898" y="1268760"/>
            <a:ext cx="9212580" cy="5040560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다형성</a:t>
            </a:r>
            <a:r>
              <a:rPr lang="en-US" altLang="ko-KR" dirty="0"/>
              <a:t>(polymorphism)</a:t>
            </a:r>
          </a:p>
          <a:p>
            <a:endParaRPr lang="en-US" altLang="ko-KR" sz="300" dirty="0"/>
          </a:p>
          <a:p>
            <a:endParaRPr lang="en-US" altLang="ko-KR" sz="400" dirty="0"/>
          </a:p>
          <a:p>
            <a:pPr lvl="1"/>
            <a:r>
              <a:rPr lang="ko-KR" altLang="en-US" dirty="0"/>
              <a:t>실질적으로 쓰이는 기능은 여러 가지 역할을 수행한다는 의미</a:t>
            </a:r>
            <a:endParaRPr lang="en-US" altLang="ko-KR" dirty="0"/>
          </a:p>
          <a:p>
            <a:pPr lvl="2"/>
            <a:r>
              <a:rPr lang="en-US" altLang="ko-KR" dirty="0"/>
              <a:t>Ex) </a:t>
            </a:r>
            <a:r>
              <a:rPr lang="ko-KR" altLang="en-US" dirty="0"/>
              <a:t>오버로딩</a:t>
            </a:r>
            <a:r>
              <a:rPr lang="en-US" altLang="ko-KR" dirty="0"/>
              <a:t>(overloading)</a:t>
            </a:r>
            <a:r>
              <a:rPr lang="ko-KR" altLang="en-US" dirty="0"/>
              <a:t>이나 </a:t>
            </a:r>
            <a:r>
              <a:rPr lang="ko-KR" altLang="en-US" dirty="0" err="1"/>
              <a:t>오버라이딩</a:t>
            </a:r>
            <a:r>
              <a:rPr lang="en-US" altLang="ko-KR" dirty="0"/>
              <a:t>(overriding)</a:t>
            </a:r>
          </a:p>
          <a:p>
            <a:pPr lvl="2"/>
            <a:endParaRPr lang="en-US" altLang="ko-KR" dirty="0"/>
          </a:p>
          <a:p>
            <a:pPr lvl="1"/>
            <a:r>
              <a:rPr lang="ko-KR" altLang="en-US" dirty="0" err="1"/>
              <a:t>오버라이딩</a:t>
            </a:r>
            <a:endParaRPr lang="en-US" altLang="ko-KR" dirty="0"/>
          </a:p>
          <a:p>
            <a:pPr lvl="2"/>
            <a:r>
              <a:rPr lang="ko-KR" altLang="en-US" dirty="0"/>
              <a:t>상위클래스의 메소드와 같은 </a:t>
            </a:r>
            <a:r>
              <a:rPr lang="ko-KR" altLang="en-US" dirty="0" err="1"/>
              <a:t>시그니처로</a:t>
            </a:r>
            <a:r>
              <a:rPr lang="ko-KR" altLang="en-US" dirty="0"/>
              <a:t> 메소드를 재정의하는 것을 의미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오버로딩</a:t>
            </a:r>
            <a:endParaRPr lang="en-US" altLang="ko-KR" dirty="0"/>
          </a:p>
          <a:p>
            <a:pPr lvl="2"/>
            <a:r>
              <a:rPr lang="ko-KR" altLang="en-US" dirty="0"/>
              <a:t>메소드 이름만 같고 </a:t>
            </a:r>
            <a:r>
              <a:rPr lang="ko-KR" altLang="en-US" dirty="0" err="1"/>
              <a:t>시그니처가</a:t>
            </a:r>
            <a:r>
              <a:rPr lang="ko-KR" altLang="en-US" dirty="0"/>
              <a:t> 다른 것들을 의미</a:t>
            </a:r>
          </a:p>
        </p:txBody>
      </p:sp>
    </p:spTree>
    <p:extLst>
      <p:ext uri="{BB962C8B-B14F-4D97-AF65-F5344CB8AC3E}">
        <p14:creationId xmlns:p14="http://schemas.microsoft.com/office/powerpoint/2010/main" val="840517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생성자 오버로딩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346710" y="1154719"/>
            <a:ext cx="9212580" cy="4956064"/>
          </a:xfrm>
        </p:spPr>
        <p:txBody>
          <a:bodyPr>
            <a:normAutofit/>
          </a:bodyPr>
          <a:lstStyle/>
          <a:p>
            <a:r>
              <a:rPr lang="ko-KR" altLang="en-US" dirty="0"/>
              <a:t>필요한 여러 생성자 구현</a:t>
            </a:r>
            <a:endParaRPr lang="en-US" altLang="ko-KR" dirty="0"/>
          </a:p>
          <a:p>
            <a:pPr lvl="1"/>
            <a:r>
              <a:rPr lang="ko-KR" altLang="en-US" dirty="0"/>
              <a:t>하나의 클래스에서 인자가 다르면 생성자를 여러 개 구현 가능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생성자의 형태</a:t>
            </a:r>
            <a:endParaRPr lang="en-US" altLang="ko-KR" dirty="0"/>
          </a:p>
          <a:p>
            <a:pPr lvl="1"/>
            <a:r>
              <a:rPr lang="ko-KR" altLang="en-US" dirty="0"/>
              <a:t>메소드와 비슷하게 생겼지만 반환형은 쓰지않으며 생성자의 이름은 생성자가 존재하는 클래스의 이름과 같다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6F775A5-FFF5-4987-A8CD-97A6077AC477}"/>
              </a:ext>
            </a:extLst>
          </p:cNvPr>
          <p:cNvGrpSpPr/>
          <p:nvPr/>
        </p:nvGrpSpPr>
        <p:grpSpPr>
          <a:xfrm>
            <a:off x="992560" y="2060848"/>
            <a:ext cx="6192688" cy="2684176"/>
            <a:chOff x="992560" y="2060848"/>
            <a:chExt cx="6192688" cy="268417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980ACE8-F1D9-43D0-8129-5302C7F5CA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176"/>
            <a:stretch/>
          </p:blipFill>
          <p:spPr>
            <a:xfrm>
              <a:off x="992560" y="2112975"/>
              <a:ext cx="6048672" cy="2632049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56A37DB-7BC9-44D0-8B2C-A51E06941A8A}"/>
                </a:ext>
              </a:extLst>
            </p:cNvPr>
            <p:cNvSpPr/>
            <p:nvPr/>
          </p:nvSpPr>
          <p:spPr>
            <a:xfrm>
              <a:off x="5601072" y="2060848"/>
              <a:ext cx="1584176" cy="2359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D648A9B4-2ED1-49E0-8A51-18792192EC1D}"/>
              </a:ext>
            </a:extLst>
          </p:cNvPr>
          <p:cNvGrpSpPr/>
          <p:nvPr/>
        </p:nvGrpSpPr>
        <p:grpSpPr>
          <a:xfrm>
            <a:off x="473169" y="1508471"/>
            <a:ext cx="9106790" cy="4872981"/>
            <a:chOff x="992560" y="1586408"/>
            <a:chExt cx="8372475" cy="452437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2A1CD8A-73F5-4C8E-991B-B5DFA013A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2560" y="1586408"/>
              <a:ext cx="8372475" cy="4524375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CFE2D35-F630-4EBC-909E-54FAF51F2CE8}"/>
                </a:ext>
              </a:extLst>
            </p:cNvPr>
            <p:cNvSpPr/>
            <p:nvPr/>
          </p:nvSpPr>
          <p:spPr>
            <a:xfrm>
              <a:off x="6825209" y="1700808"/>
              <a:ext cx="2539826" cy="3600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8042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81101" y="2428868"/>
            <a:ext cx="7143800" cy="1071570"/>
          </a:xfrm>
        </p:spPr>
        <p:txBody>
          <a:bodyPr/>
          <a:lstStyle/>
          <a:p>
            <a:r>
              <a:rPr lang="ko-KR" altLang="en-US" dirty="0"/>
              <a:t>컬렉션 프레임워크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75744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컬렉션 프레임워크 개요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346710" y="1196753"/>
            <a:ext cx="9212580" cy="4914030"/>
          </a:xfrm>
        </p:spPr>
        <p:txBody>
          <a:bodyPr>
            <a:normAutofit/>
          </a:bodyPr>
          <a:lstStyle/>
          <a:p>
            <a:r>
              <a:rPr lang="ko-KR" altLang="en-US" dirty="0"/>
              <a:t>인터페이스 계층</a:t>
            </a:r>
            <a:endParaRPr lang="en-US" altLang="ko-KR" dirty="0"/>
          </a:p>
          <a:p>
            <a:pPr lvl="1"/>
            <a:r>
              <a:rPr lang="ko-KR" altLang="en-US" dirty="0"/>
              <a:t>컬렉션 프레임워크</a:t>
            </a:r>
            <a:r>
              <a:rPr lang="en-US" altLang="ko-KR" dirty="0"/>
              <a:t>(collection framework)</a:t>
            </a:r>
          </a:p>
          <a:p>
            <a:pPr lvl="2"/>
            <a:r>
              <a:rPr lang="ko-KR" altLang="en-US" dirty="0"/>
              <a:t>여러 객체 원소의 삽입과 삭제가 편리한 자료 구조를 지원하는 인터페이스와  클래스의 모임</a:t>
            </a:r>
            <a:r>
              <a:rPr lang="en-US" altLang="ko-KR" dirty="0"/>
              <a:t>. (</a:t>
            </a:r>
            <a:r>
              <a:rPr lang="ko-KR" altLang="en-US" dirty="0"/>
              <a:t>자료구조는 자료를 효율적으로 저장하기 위한 구조임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자바는 인터페이스</a:t>
            </a:r>
            <a:r>
              <a:rPr lang="en-US" altLang="ko-KR" dirty="0"/>
              <a:t>(Collection, Set, List, Queue, Map)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ko-KR" altLang="en-US" dirty="0"/>
              <a:t>이를 구현한 여러 클래스로 컬렉션 프레임워크를 구성</a:t>
            </a:r>
            <a:r>
              <a:rPr lang="en-US" altLang="ko-KR" dirty="0"/>
              <a:t>. </a:t>
            </a:r>
            <a:r>
              <a:rPr lang="en-US" altLang="ko-KR" dirty="0" err="1"/>
              <a:t>Colleciton</a:t>
            </a:r>
            <a:r>
              <a:rPr lang="ko-KR" altLang="en-US" dirty="0"/>
              <a:t>은 고정 크기의 배열이 가지는 단점을 극복하여 여러 객체 원소의 삽입과 삭제가 편리한 자료 구조를 지원하는 인터페이스와 클래스의 모임임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4D92A3D-8F52-4F75-9A9D-D898F5F5875F}"/>
              </a:ext>
            </a:extLst>
          </p:cNvPr>
          <p:cNvSpPr txBox="1">
            <a:spLocks/>
          </p:cNvSpPr>
          <p:nvPr/>
        </p:nvSpPr>
        <p:spPr>
          <a:xfrm>
            <a:off x="344488" y="1772816"/>
            <a:ext cx="9212580" cy="4524016"/>
          </a:xfrm>
          <a:prstGeom prst="rect">
            <a:avLst/>
          </a:prstGeom>
        </p:spPr>
        <p:txBody>
          <a:bodyPr vert="horz" lIns="91431" tIns="45715" rIns="91431" bIns="45715">
            <a:normAutofit/>
          </a:bodyPr>
          <a:lstStyle>
            <a:lvl1pPr marL="274292" indent="-274292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Char char="v"/>
              <a:defRPr kumimoji="0" sz="2600" kern="1200">
                <a:solidFill>
                  <a:schemeClr val="tx1"/>
                </a:solidFill>
                <a:latin typeface="Arial Rounded MT Bold" pitchFamily="34" charset="0"/>
                <a:ea typeface="맑은 고딕" pitchFamily="50" charset="-127"/>
                <a:cs typeface="+mn-cs"/>
              </a:defRPr>
            </a:lvl1pPr>
            <a:lvl2pPr marL="548584" indent="-274292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0" sz="2200" kern="1200">
                <a:solidFill>
                  <a:schemeClr val="tx2"/>
                </a:solidFill>
                <a:latin typeface="Arial Rounded MT Bold" pitchFamily="34" charset="0"/>
                <a:ea typeface="맑은 고딕" pitchFamily="50" charset="-127"/>
                <a:cs typeface="+mn-cs"/>
              </a:defRPr>
            </a:lvl2pPr>
            <a:lvl3pPr marL="822876" indent="-228577" algn="l" rtl="0" eaLnBrk="1" latinLnBrk="1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097168" indent="-228577" algn="l" rtl="0" eaLnBrk="1" latinLnBrk="1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371460" indent="-228577" algn="l" rtl="0" eaLnBrk="1" latinLnBrk="1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1645753" indent="-182861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045" indent="-182861" algn="l" rtl="0" eaLnBrk="1" latinLnBrk="1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2906" indent="-182861" algn="l" rtl="0" eaLnBrk="1" latinLnBrk="1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198" indent="-182861" algn="l" rtl="0" eaLnBrk="1" latinLnBrk="1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endParaRPr lang="en-US" altLang="ko-KR" b="1" dirty="0"/>
          </a:p>
          <a:p>
            <a:pPr marL="0" indent="0" defTabSz="914400">
              <a:buFont typeface="Wingdings" pitchFamily="2" charset="2"/>
              <a:buNone/>
            </a:pPr>
            <a:endParaRPr lang="en-US" altLang="ko-KR" b="1" dirty="0"/>
          </a:p>
          <a:p>
            <a:pPr lvl="1" defTabSz="914400"/>
            <a:endParaRPr lang="en-US" altLang="ko-KR" b="1" dirty="0"/>
          </a:p>
          <a:p>
            <a:pPr defTabSz="914400"/>
            <a:endParaRPr lang="en-US" altLang="ko-KR" b="1" dirty="0"/>
          </a:p>
          <a:p>
            <a:pPr marL="274292" lvl="1" indent="0" defTabSz="914400">
              <a:buFont typeface="Wingdings" pitchFamily="2" charset="2"/>
              <a:buNone/>
            </a:pPr>
            <a:endParaRPr lang="en-US" altLang="ko-KR" b="1" dirty="0"/>
          </a:p>
          <a:p>
            <a:pPr defTabSz="914400"/>
            <a:endParaRPr lang="en-US" altLang="ko-KR" b="1" dirty="0"/>
          </a:p>
          <a:p>
            <a:pPr lvl="1" defTabSz="914400"/>
            <a:endParaRPr lang="en-US" altLang="ko-KR" b="1" dirty="0"/>
          </a:p>
          <a:p>
            <a:pPr defTabSz="914400"/>
            <a:endParaRPr lang="en-US" altLang="ko-KR" b="1" dirty="0"/>
          </a:p>
          <a:p>
            <a:pPr lvl="1" defTabSz="914400"/>
            <a:endParaRPr lang="en-US" altLang="ko-KR" b="1" dirty="0"/>
          </a:p>
          <a:p>
            <a:pPr defTabSz="914400"/>
            <a:endParaRPr lang="en-US" altLang="ko-KR" b="1" dirty="0"/>
          </a:p>
          <a:p>
            <a:pPr defTabSz="914400"/>
            <a:endParaRPr lang="en-US" altLang="ko-KR" b="1" dirty="0"/>
          </a:p>
          <a:p>
            <a:pPr defTabSz="914400"/>
            <a:endParaRPr lang="en-US" altLang="ko-KR" b="1" dirty="0"/>
          </a:p>
          <a:p>
            <a:pPr defTabSz="914400"/>
            <a:endParaRPr lang="en-US" altLang="ko-KR" dirty="0"/>
          </a:p>
          <a:p>
            <a:pPr marL="274292" lvl="1" indent="0" defTabSz="914400">
              <a:buFont typeface="Wingdings" pitchFamily="2" charset="2"/>
              <a:buNone/>
            </a:pPr>
            <a:endParaRPr lang="en-US" altLang="ko-KR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8C9081A-46B2-4FC0-AF60-DBB3B2A72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696" y="4434065"/>
            <a:ext cx="5689617" cy="2016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606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과 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220900" y="1052736"/>
            <a:ext cx="9212580" cy="5428627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Collection</a:t>
            </a:r>
            <a:endParaRPr lang="en-US" altLang="ko-KR" sz="1100" dirty="0"/>
          </a:p>
          <a:p>
            <a:pPr lvl="1"/>
            <a:r>
              <a:rPr lang="en-US" altLang="ko-KR" sz="2000" dirty="0"/>
              <a:t>Set, List</a:t>
            </a:r>
            <a:r>
              <a:rPr lang="ko-KR" altLang="en-US" sz="2000" dirty="0"/>
              <a:t>는 </a:t>
            </a:r>
            <a:r>
              <a:rPr lang="ko-KR" altLang="en-US" sz="2000" dirty="0">
                <a:solidFill>
                  <a:srgbClr val="666666"/>
                </a:solidFill>
                <a:latin typeface="Spoqa Han Sans"/>
              </a:rPr>
              <a:t>객체 하나를 컬렉션의 원소로 처리</a:t>
            </a:r>
            <a:endParaRPr lang="en-US" altLang="ko-KR" dirty="0"/>
          </a:p>
          <a:p>
            <a:pPr lvl="2"/>
            <a:r>
              <a:rPr lang="ko-KR" altLang="en-US" sz="1800" dirty="0"/>
              <a:t>인터페이스 </a:t>
            </a:r>
            <a:r>
              <a:rPr lang="en-US" altLang="ko-KR" sz="1800" dirty="0"/>
              <a:t>List</a:t>
            </a:r>
            <a:r>
              <a:rPr lang="ko-KR" altLang="en-US" sz="1800" dirty="0"/>
              <a:t>는 원소의 중복을 허용하고 순서도 의미 있음</a:t>
            </a:r>
            <a:endParaRPr lang="en-US" altLang="ko-KR" sz="1800" dirty="0"/>
          </a:p>
          <a:p>
            <a:pPr lvl="2"/>
            <a:r>
              <a:rPr lang="ko-KR" altLang="en-US" sz="1800" dirty="0"/>
              <a:t>인터페이스 </a:t>
            </a:r>
            <a:r>
              <a:rPr lang="en-US" altLang="ko-KR" sz="1800" dirty="0"/>
              <a:t>Set</a:t>
            </a:r>
            <a:r>
              <a:rPr lang="ko-KR" altLang="en-US" sz="1800" dirty="0"/>
              <a:t>은 원소의 중복을 허용하지 않음</a:t>
            </a:r>
            <a:endParaRPr lang="en-US" altLang="ko-KR" sz="1800" dirty="0"/>
          </a:p>
          <a:p>
            <a:r>
              <a:rPr lang="en-US" altLang="ko-KR" sz="2400" dirty="0"/>
              <a:t>Map</a:t>
            </a:r>
            <a:endParaRPr lang="en-US" altLang="ko-KR" sz="1050" dirty="0"/>
          </a:p>
          <a:p>
            <a:pPr lvl="2"/>
            <a:r>
              <a:rPr lang="ko-KR" altLang="en-US" sz="1800" dirty="0"/>
              <a:t>키</a:t>
            </a:r>
            <a:r>
              <a:rPr lang="en-US" altLang="ko-KR" sz="1800" dirty="0"/>
              <a:t>(key)</a:t>
            </a:r>
            <a:r>
              <a:rPr lang="ko-KR" altLang="en-US" sz="1800" dirty="0"/>
              <a:t>와 값</a:t>
            </a:r>
            <a:r>
              <a:rPr lang="en-US" altLang="ko-KR" sz="1800" dirty="0"/>
              <a:t>(value)</a:t>
            </a:r>
            <a:r>
              <a:rPr lang="ko-KR" altLang="en-US" sz="1800" dirty="0"/>
              <a:t>의 쌍으로 구성되어 컬렉션의 원소로 처리</a:t>
            </a:r>
            <a:endParaRPr lang="en-US" altLang="ko-KR" sz="1800" dirty="0"/>
          </a:p>
          <a:p>
            <a:pPr lvl="2"/>
            <a:r>
              <a:rPr lang="ko-KR" altLang="en-US" sz="1800" dirty="0"/>
              <a:t>원소의 중복을 허용하지 않음</a:t>
            </a:r>
            <a:endParaRPr lang="en-US" altLang="ko-KR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F684A6-84E4-418B-8CAB-0B558E41A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952" y="3429000"/>
            <a:ext cx="4608512" cy="3390438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EFD8CA62-C516-48F3-961C-750FB80EE180}"/>
              </a:ext>
            </a:extLst>
          </p:cNvPr>
          <p:cNvGrpSpPr/>
          <p:nvPr/>
        </p:nvGrpSpPr>
        <p:grpSpPr>
          <a:xfrm>
            <a:off x="524916" y="567603"/>
            <a:ext cx="8908564" cy="6015743"/>
            <a:chOff x="220900" y="857247"/>
            <a:chExt cx="8580468" cy="601574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E3AA420-B051-41B4-9C80-86942174F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94735" y="857247"/>
              <a:ext cx="5483219" cy="5957825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3510F3-FFAC-47FD-9536-20E1E81CC9CB}"/>
                </a:ext>
              </a:extLst>
            </p:cNvPr>
            <p:cNvSpPr/>
            <p:nvPr/>
          </p:nvSpPr>
          <p:spPr>
            <a:xfrm>
              <a:off x="220900" y="1052736"/>
              <a:ext cx="973835" cy="58052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B9AE1C5-C735-415A-A1F3-65AFDB981EBB}"/>
                </a:ext>
              </a:extLst>
            </p:cNvPr>
            <p:cNvSpPr/>
            <p:nvPr/>
          </p:nvSpPr>
          <p:spPr>
            <a:xfrm>
              <a:off x="6644366" y="1067726"/>
              <a:ext cx="2157002" cy="58052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A359BF42-BF81-4AF2-9203-54180E761E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682" y="3433762"/>
            <a:ext cx="1849967" cy="171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65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FB1E945-528A-4527-82A0-CD2FD4252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10" y="3846367"/>
            <a:ext cx="4491700" cy="1742873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Iterator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인터페이스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346710" y="1096717"/>
            <a:ext cx="9212580" cy="5428627"/>
          </a:xfrm>
        </p:spPr>
        <p:txBody>
          <a:bodyPr>
            <a:normAutofit/>
          </a:bodyPr>
          <a:lstStyle/>
          <a:p>
            <a:r>
              <a:rPr lang="ko-KR" altLang="en-US" dirty="0"/>
              <a:t>컬렉션을 구성하는 원소 집합을 순차적으로 처리하기 위한 인터페이스</a:t>
            </a:r>
            <a:endParaRPr lang="en-US" altLang="ko-KR" dirty="0"/>
          </a:p>
          <a:p>
            <a:pPr lvl="1"/>
            <a:r>
              <a:rPr lang="en-US" altLang="ko-KR" dirty="0"/>
              <a:t>Iterator() </a:t>
            </a:r>
            <a:r>
              <a:rPr lang="ko-KR" altLang="en-US" dirty="0"/>
              <a:t>메소드</a:t>
            </a:r>
            <a:endParaRPr lang="en-US" altLang="ko-KR" dirty="0"/>
          </a:p>
          <a:p>
            <a:pPr lvl="2"/>
            <a:r>
              <a:rPr lang="ko-KR" altLang="en-US" dirty="0"/>
              <a:t>인터페이스 </a:t>
            </a:r>
            <a:r>
              <a:rPr lang="en-US" altLang="ko-KR" dirty="0"/>
              <a:t>Iterator</a:t>
            </a:r>
            <a:r>
              <a:rPr lang="ko-KR" altLang="en-US" dirty="0"/>
              <a:t>의 객체를 반환</a:t>
            </a:r>
            <a:endParaRPr lang="en-US" altLang="ko-KR" dirty="0"/>
          </a:p>
          <a:p>
            <a:pPr lvl="2"/>
            <a:r>
              <a:rPr lang="ko-KR" altLang="en-US" dirty="0"/>
              <a:t>인터페이스 </a:t>
            </a:r>
            <a:r>
              <a:rPr lang="en-US" altLang="ko-KR" dirty="0"/>
              <a:t>Collection</a:t>
            </a:r>
            <a:r>
              <a:rPr lang="ko-KR" altLang="en-US" dirty="0"/>
              <a:t>을 구현하는 컬렉션 클래스 객체인 변수 </a:t>
            </a:r>
            <a:r>
              <a:rPr lang="en-US" altLang="ko-KR" dirty="0"/>
              <a:t>C</a:t>
            </a:r>
            <a:r>
              <a:rPr lang="ko-KR" altLang="en-US" dirty="0"/>
              <a:t>에서 메소드 </a:t>
            </a:r>
            <a:r>
              <a:rPr lang="en-US" altLang="ko-KR" dirty="0"/>
              <a:t>iterator()</a:t>
            </a:r>
            <a:r>
              <a:rPr lang="ko-KR" altLang="en-US" dirty="0"/>
              <a:t>를 호출하여 인터페이스 </a:t>
            </a:r>
            <a:r>
              <a:rPr lang="en-US" altLang="ko-KR" dirty="0"/>
              <a:t>Iterator</a:t>
            </a:r>
            <a:r>
              <a:rPr lang="ko-KR" altLang="en-US" dirty="0"/>
              <a:t>의 객체를 얻음</a:t>
            </a:r>
            <a:endParaRPr lang="en-US" altLang="ko-KR" dirty="0"/>
          </a:p>
          <a:p>
            <a:pPr lvl="2"/>
            <a:r>
              <a:rPr lang="ko-KR" altLang="en-US" dirty="0"/>
              <a:t>메소드 </a:t>
            </a:r>
            <a:r>
              <a:rPr lang="en-US" altLang="ko-KR" dirty="0" err="1"/>
              <a:t>hasNext</a:t>
            </a:r>
            <a:r>
              <a:rPr lang="en-US" altLang="ko-KR" dirty="0"/>
              <a:t>()</a:t>
            </a:r>
            <a:r>
              <a:rPr lang="ko-KR" altLang="en-US" dirty="0"/>
              <a:t>와 </a:t>
            </a:r>
            <a:r>
              <a:rPr lang="en-US" altLang="ko-KR" dirty="0"/>
              <a:t>next()</a:t>
            </a:r>
            <a:r>
              <a:rPr lang="ko-KR" altLang="en-US" dirty="0"/>
              <a:t>를 사용 반복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pic>
        <p:nvPicPr>
          <p:cNvPr id="8" name="Picture 2" descr="L:\2013 09 backup\2012 03 16(금) 자바 저술\2013 10 28(월) 절대자바 강의자료 작성\Chapter07\표7-18.bmp">
            <a:extLst>
              <a:ext uri="{FF2B5EF4-FFF2-40B4-BE49-F238E27FC236}">
                <a16:creationId xmlns:a16="http://schemas.microsoft.com/office/drawing/2014/main" id="{ACA50EA2-DB09-4D6E-A869-7A6CA81B3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823" y="5034683"/>
            <a:ext cx="6588467" cy="1697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2597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 </a:t>
            </a:r>
            <a:r>
              <a:rPr lang="ko-KR" altLang="en-US" dirty="0"/>
              <a:t>인터페이스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346710" y="1340768"/>
            <a:ext cx="9212580" cy="5328592"/>
          </a:xfrm>
        </p:spPr>
        <p:txBody>
          <a:bodyPr>
            <a:normAutofit/>
          </a:bodyPr>
          <a:lstStyle/>
          <a:p>
            <a:r>
              <a:rPr lang="ko-KR" altLang="en-US" dirty="0"/>
              <a:t>순차적으로 나열된 원소를 처리하는 구조</a:t>
            </a:r>
            <a:endParaRPr lang="en-US" altLang="ko-KR" dirty="0"/>
          </a:p>
          <a:p>
            <a:endParaRPr lang="en-US" altLang="ko-KR" sz="600" dirty="0"/>
          </a:p>
          <a:p>
            <a:pPr lvl="1"/>
            <a:r>
              <a:rPr lang="ko-KR" altLang="en-US" dirty="0"/>
              <a:t>첨자를 인자로 하는 메소드를 제공</a:t>
            </a:r>
            <a:endParaRPr lang="en-US" altLang="ko-KR" dirty="0"/>
          </a:p>
          <a:p>
            <a:pPr lvl="1"/>
            <a:endParaRPr lang="en-US" altLang="ko-KR" sz="400" dirty="0"/>
          </a:p>
          <a:p>
            <a:pPr lvl="1"/>
            <a:r>
              <a:rPr lang="ko-KR" altLang="en-US" dirty="0"/>
              <a:t>인터페이스 </a:t>
            </a:r>
            <a:r>
              <a:rPr lang="en-US" altLang="ko-KR" dirty="0"/>
              <a:t>List</a:t>
            </a:r>
            <a:r>
              <a:rPr lang="ko-KR" altLang="en-US" dirty="0"/>
              <a:t>를 상속받아 구현한 대표적인 클래스</a:t>
            </a:r>
            <a:endParaRPr lang="en-US" altLang="ko-KR" dirty="0"/>
          </a:p>
          <a:p>
            <a:pPr lvl="1"/>
            <a:endParaRPr lang="en-US" altLang="ko-KR" sz="300" dirty="0"/>
          </a:p>
          <a:p>
            <a:pPr lvl="2"/>
            <a:r>
              <a:rPr lang="en-US" altLang="ko-KR" dirty="0"/>
              <a:t>LinkedList, </a:t>
            </a:r>
            <a:r>
              <a:rPr lang="en-US" altLang="ko-KR" dirty="0" err="1"/>
              <a:t>ArrayList</a:t>
            </a:r>
            <a:r>
              <a:rPr lang="en-US" altLang="ko-KR" dirty="0"/>
              <a:t>, Vector, Stack </a:t>
            </a:r>
            <a:r>
              <a:rPr lang="ko-KR" altLang="en-US" dirty="0"/>
              <a:t>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65980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ListIterator</a:t>
            </a:r>
            <a:r>
              <a:rPr lang="en-US" altLang="ko-KR" dirty="0"/>
              <a:t> </a:t>
            </a:r>
            <a:r>
              <a:rPr lang="ko-KR" altLang="en-US" dirty="0"/>
              <a:t>인터페이스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346710" y="1340768"/>
            <a:ext cx="9212580" cy="5242578"/>
          </a:xfrm>
        </p:spPr>
        <p:txBody>
          <a:bodyPr>
            <a:normAutofit/>
          </a:bodyPr>
          <a:lstStyle/>
          <a:p>
            <a:r>
              <a:rPr lang="ko-KR" altLang="en-US" dirty="0"/>
              <a:t>상위로 </a:t>
            </a:r>
            <a:r>
              <a:rPr lang="en-US" altLang="ko-KR" dirty="0"/>
              <a:t>Iterator</a:t>
            </a:r>
            <a:r>
              <a:rPr lang="ko-KR" altLang="en-US" dirty="0"/>
              <a:t>를 상속받는 인터페이스</a:t>
            </a:r>
            <a:endParaRPr lang="en-US" altLang="ko-KR" dirty="0"/>
          </a:p>
          <a:p>
            <a:endParaRPr lang="en-US" altLang="ko-KR" sz="300" dirty="0"/>
          </a:p>
          <a:p>
            <a:pPr lvl="1"/>
            <a:r>
              <a:rPr lang="ko-KR" altLang="en-US" dirty="0"/>
              <a:t>컬렉션을 구성하는 원소 집합에서 순방향과 역방향으로 순차적 처리에 편리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61997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양방향 연결 리스트인 클래스 </a:t>
            </a:r>
            <a:r>
              <a:rPr lang="en-US" altLang="ko-KR" dirty="0"/>
              <a:t>LinkedList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346710" y="1168725"/>
            <a:ext cx="9212580" cy="5428627"/>
          </a:xfrm>
        </p:spPr>
        <p:txBody>
          <a:bodyPr>
            <a:normAutofit/>
          </a:bodyPr>
          <a:lstStyle/>
          <a:p>
            <a:r>
              <a:rPr lang="ko-KR" altLang="en-US" dirty="0"/>
              <a:t>인터페이스 </a:t>
            </a:r>
            <a:r>
              <a:rPr lang="en-US" altLang="ko-KR" dirty="0"/>
              <a:t>List</a:t>
            </a:r>
            <a:r>
              <a:rPr lang="ko-KR" altLang="en-US" dirty="0"/>
              <a:t>와 </a:t>
            </a:r>
            <a:r>
              <a:rPr lang="en-US" altLang="ko-KR" dirty="0"/>
              <a:t>Queue </a:t>
            </a:r>
            <a:r>
              <a:rPr lang="ko-KR" altLang="en-US" dirty="0"/>
              <a:t>등을 구현한 클래스</a:t>
            </a:r>
            <a:endParaRPr lang="en-US" altLang="ko-KR" dirty="0"/>
          </a:p>
          <a:p>
            <a:pPr lvl="1"/>
            <a:r>
              <a:rPr lang="ko-KR" altLang="en-US" dirty="0"/>
              <a:t>내부적으로 양방향의 연결 리스트로 구성</a:t>
            </a:r>
            <a:endParaRPr lang="en-US" altLang="ko-KR" dirty="0"/>
          </a:p>
          <a:p>
            <a:pPr lvl="1"/>
            <a:endParaRPr lang="en-US" altLang="ko-KR" sz="1050" dirty="0"/>
          </a:p>
          <a:p>
            <a:r>
              <a:rPr lang="ko-KR" altLang="en-US" dirty="0"/>
              <a:t>처음부터 순방향으로 또는 마지막부터 역방향으로 순회 가능</a:t>
            </a:r>
            <a:endParaRPr lang="en-US" altLang="ko-KR" dirty="0"/>
          </a:p>
          <a:p>
            <a:pPr lvl="1"/>
            <a:r>
              <a:rPr lang="en-US" altLang="ko-KR" dirty="0"/>
              <a:t>null</a:t>
            </a:r>
            <a:r>
              <a:rPr lang="ko-KR" altLang="en-US" dirty="0"/>
              <a:t>을 포함한 모든 종류의 객체를 처리</a:t>
            </a:r>
            <a:endParaRPr lang="en-US" altLang="ko-KR" dirty="0"/>
          </a:p>
          <a:p>
            <a:pPr lvl="1"/>
            <a:r>
              <a:rPr lang="en-US" altLang="ko-KR" dirty="0" err="1"/>
              <a:t>addFirst</a:t>
            </a:r>
            <a:r>
              <a:rPr lang="en-US" altLang="ko-KR" dirty="0"/>
              <a:t>()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모든 객체를 맨 앞에</a:t>
            </a:r>
            <a:r>
              <a:rPr lang="en-US" altLang="ko-KR" dirty="0"/>
              <a:t>,  add()</a:t>
            </a:r>
            <a:r>
              <a:rPr lang="ko-KR" altLang="en-US" dirty="0"/>
              <a:t>와 </a:t>
            </a:r>
            <a:r>
              <a:rPr lang="en-US" altLang="ko-KR" dirty="0" err="1"/>
              <a:t>addLast</a:t>
            </a:r>
            <a:r>
              <a:rPr lang="en-US" altLang="ko-KR" dirty="0"/>
              <a:t>() 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가장 끝에 </a:t>
            </a:r>
            <a:r>
              <a:rPr lang="en-US" altLang="ko-KR" dirty="0"/>
              <a:t>add(index) </a:t>
            </a:r>
            <a:r>
              <a:rPr lang="ko-KR" altLang="en-US" dirty="0"/>
              <a:t>로</a:t>
            </a:r>
            <a:r>
              <a:rPr lang="en-US" altLang="ko-KR" dirty="0"/>
              <a:t> index </a:t>
            </a:r>
            <a:r>
              <a:rPr lang="ko-KR" altLang="en-US" dirty="0"/>
              <a:t>위치에 자유자재로 삽입할 수 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지정된 첨자 위치 등 자유자재로 삽입 가능</a:t>
            </a:r>
          </a:p>
        </p:txBody>
      </p:sp>
      <p:pic>
        <p:nvPicPr>
          <p:cNvPr id="4" name="Picture 2" descr="L:\2013 09 backup\2012 03 16(금) 자바 저술\2013 10 28(월) 절대자바 강의자료 작성\Chapter07\그림7-17.bmp">
            <a:extLst>
              <a:ext uri="{FF2B5EF4-FFF2-40B4-BE49-F238E27FC236}">
                <a16:creationId xmlns:a16="http://schemas.microsoft.com/office/drawing/2014/main" id="{88D4C973-8D0F-457C-B465-942891E32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025" y="4413666"/>
            <a:ext cx="7861949" cy="225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AEBBE6E-2F51-4698-A9A1-D8ACE54D8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38" y="3815006"/>
            <a:ext cx="8015280" cy="25553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C652777-1A6F-45EA-8EF6-347CF2FFD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9325" y="1168725"/>
            <a:ext cx="7860078" cy="494994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D83F7FD-83DD-47DB-9775-73E47AB82E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4955" y="2740436"/>
            <a:ext cx="7429866" cy="334646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56AC7FA-2DC0-4F0F-902D-6439A9C4FE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1789" y="3779002"/>
            <a:ext cx="7067846" cy="25553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801BCFA-09BC-4080-A477-95D90FF1BD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4649" y="5056699"/>
            <a:ext cx="7766048" cy="239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632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테마1">
  <a:themeElements>
    <a:clrScheme name="중앙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동녘-맑은고딕-Arial Rounded MT Bold">
      <a:majorFont>
        <a:latin typeface="Arial Rounded MT Bold"/>
        <a:ea typeface="HY동녘B"/>
        <a:cs typeface=""/>
      </a:majorFont>
      <a:minorFont>
        <a:latin typeface="Arial Rounded MT Bold"/>
        <a:ea typeface="맑은 고딕"/>
        <a:cs typeface=""/>
      </a:minorFont>
    </a:fontScheme>
    <a:fmtScheme name="중앙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중앙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동녘-맑은고딕-Arial Rounded MT Bold">
      <a:majorFont>
        <a:latin typeface="Arial Rounded MT Bold"/>
        <a:ea typeface="HY동녘B"/>
        <a:cs typeface=""/>
      </a:majorFont>
      <a:minorFont>
        <a:latin typeface="Arial Rounded MT Bold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1012676</TotalTime>
  <Words>2490</Words>
  <Application>Microsoft Office PowerPoint</Application>
  <PresentationFormat>A4 용지(210x297mm)</PresentationFormat>
  <Paragraphs>281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31" baseType="lpstr">
      <vt:lpstr>Apple SD Gothic Neo</vt:lpstr>
      <vt:lpstr>HY동녘B</vt:lpstr>
      <vt:lpstr>Iropke Batang</vt:lpstr>
      <vt:lpstr>Noto Sans KR</vt:lpstr>
      <vt:lpstr>notokr</vt:lpstr>
      <vt:lpstr>Spoqa Han Sans</vt:lpstr>
      <vt:lpstr>Ubuntu Condensed</vt:lpstr>
      <vt:lpstr>나눔고딕</vt:lpstr>
      <vt:lpstr>돋움</vt:lpstr>
      <vt:lpstr>돋움</vt:lpstr>
      <vt:lpstr>맑은 고딕</vt:lpstr>
      <vt:lpstr>Arial Rounded MT Bold</vt:lpstr>
      <vt:lpstr>Century Gothic</vt:lpstr>
      <vt:lpstr>Wingdings</vt:lpstr>
      <vt:lpstr>Wingdings 2</vt:lpstr>
      <vt:lpstr>테마1</vt:lpstr>
      <vt:lpstr>2020 TUTORING - JAVA</vt:lpstr>
      <vt:lpstr>목차</vt:lpstr>
      <vt:lpstr>객체지향 프로그래밍</vt:lpstr>
      <vt:lpstr>추상화</vt:lpstr>
      <vt:lpstr>상속</vt:lpstr>
      <vt:lpstr>캡슐화</vt:lpstr>
      <vt:lpstr>다형성</vt:lpstr>
      <vt:lpstr>생성자 오버로딩</vt:lpstr>
      <vt:lpstr>컬렉션 프레임워크</vt:lpstr>
      <vt:lpstr>컬렉션 프레임워크 개요</vt:lpstr>
      <vt:lpstr>Collection과 Map</vt:lpstr>
      <vt:lpstr>Iterator 인터페이스</vt:lpstr>
      <vt:lpstr>List 인터페이스</vt:lpstr>
      <vt:lpstr>ListIterator 인터페이스</vt:lpstr>
      <vt:lpstr>양방향 연결 리스트인 클래스 LinkedList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Language</dc:title>
  <dc:subject>C언어 학습</dc:subject>
  <dc:creator>217-</dc:creator>
  <cp:lastModifiedBy>user</cp:lastModifiedBy>
  <cp:revision>5854</cp:revision>
  <dcterms:created xsi:type="dcterms:W3CDTF">2007-08-09T03:58:38Z</dcterms:created>
  <dcterms:modified xsi:type="dcterms:W3CDTF">2020-11-11T09:58:42Z</dcterms:modified>
</cp:coreProperties>
</file>