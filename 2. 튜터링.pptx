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1" r:id="rId5"/>
    <p:sldId id="262" r:id="rId6"/>
    <p:sldId id="263" r:id="rId7"/>
    <p:sldId id="267" r:id="rId8"/>
    <p:sldId id="270" r:id="rId9"/>
  </p:sldIdLst>
  <p:sldSz cx="9144000" cy="6858000" type="screen4x3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92" autoAdjust="0"/>
    <p:restoredTop sz="69605" autoAdjust="0"/>
  </p:normalViewPr>
  <p:slideViewPr>
    <p:cSldViewPr>
      <p:cViewPr varScale="1">
        <p:scale>
          <a:sx n="57" d="100"/>
          <a:sy n="57" d="100"/>
        </p:scale>
        <p:origin x="243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735B4-285A-4FC6-AD43-67A8F631441D}" type="datetimeFigureOut">
              <a:rPr lang="ko-KR" altLang="en-US" smtClean="0"/>
              <a:t>2020-11-25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B4C39-898E-4AC8-9A3D-D7A6DB1C56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53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B4C39-898E-4AC8-9A3D-D7A6DB1C564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071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우선 예외는 사용자의 잘못된 조작 또는 개발자의 잘못된 코딩으로 인해 발생하는 프로그램 오류로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예외가 발생하면 프로그램이 종료가 된다는 것은 에러와 동일하지만 예외는 예외처리를 통해 프로그램을 종료되지 않고 정상적으로 작동되게 만들어줄 수 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자바에서 예외처리는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Try Catch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문을 통해 해 줄 수 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에러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(Error)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란 컴퓨터 하드웨어의 오동작 또는 고장으로 인해 응용프로그램에 이상이 생겼거나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JVM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실행에 문제가 생겼을 경우 발생하는 것을 의미합니다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b="0" i="0" dirty="0">
              <a:solidFill>
                <a:srgbClr val="000000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따라서 개발자가 미리 예측하여 처리할 수 없기 때문에 애플리케이션에서 오류에 대한 처리를 신경 쓰지 않아도 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endParaRPr lang="en-US" altLang="ko-KR" b="0" dirty="0"/>
          </a:p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정리하자면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에러는 시스템 레벨에서 발생하고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예외는 개발자가 구현한 로직에서 발생합니다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즉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예외는 발생할 상황을 미리 예측하여 처리할 수 있습니다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B4C39-898E-4AC8-9A3D-D7A6DB1C564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480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ts val="2390"/>
              </a:lnSpc>
              <a:spcBef>
                <a:spcPts val="105"/>
              </a:spcBef>
            </a:pPr>
            <a:r>
              <a:rPr lang="ko-KR" altLang="en-US" sz="1400" dirty="0">
                <a:solidFill>
                  <a:srgbClr val="404040"/>
                </a:solidFill>
                <a:latin typeface="맑은 고딕"/>
                <a:cs typeface="맑은 고딕"/>
              </a:rPr>
              <a:t>예외가 </a:t>
            </a:r>
            <a:r>
              <a:rPr lang="ko-KR" altLang="en-US" sz="1400" spc="-28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400" dirty="0">
                <a:solidFill>
                  <a:srgbClr val="404040"/>
                </a:solidFill>
                <a:latin typeface="맑은 고딕"/>
                <a:cs typeface="맑은 고딕"/>
              </a:rPr>
              <a:t>발생하면</a:t>
            </a:r>
            <a:r>
              <a:rPr lang="ko-KR" altLang="en-US" sz="1400" dirty="0">
                <a:solidFill>
                  <a:schemeClr val="tx1"/>
                </a:solidFill>
                <a:latin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바로 프로그램이</a:t>
            </a:r>
            <a:r>
              <a:rPr lang="ko-KR" altLang="en-US" sz="1200" spc="-22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중단되므로</a:t>
            </a:r>
            <a:r>
              <a:rPr lang="ko-KR" altLang="en-US" sz="12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발생한</a:t>
            </a:r>
            <a:r>
              <a:rPr lang="ko-KR" altLang="en-US" sz="12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이후의 </a:t>
            </a:r>
            <a:r>
              <a:rPr lang="ko-KR" altLang="en-US" sz="12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프로그램은 실행되지 않으며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  <a:cs typeface="맑은 고딕"/>
              </a:rPr>
              <a:t>,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발생한</a:t>
            </a:r>
            <a:r>
              <a:rPr lang="ko-KR" altLang="en-US" sz="1200" spc="-24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예외</a:t>
            </a:r>
            <a:r>
              <a:rPr lang="ko-KR" altLang="en-US" sz="12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클래스의</a:t>
            </a:r>
            <a:r>
              <a:rPr lang="ko-KR" altLang="en-US" sz="12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이름과</a:t>
            </a:r>
            <a:r>
              <a:rPr lang="ko-KR" altLang="en-US" sz="12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예외가</a:t>
            </a:r>
            <a:r>
              <a:rPr lang="ko-KR" altLang="en-US" sz="12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발생한</a:t>
            </a:r>
            <a:r>
              <a:rPr lang="ko-KR" altLang="en-US" sz="12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프로그램</a:t>
            </a:r>
            <a:r>
              <a:rPr lang="ko-KR" altLang="en-US" sz="1200" spc="-22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소스와</a:t>
            </a:r>
            <a:r>
              <a:rPr lang="ko-KR" altLang="en-US" sz="12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줄</a:t>
            </a:r>
            <a:r>
              <a:rPr lang="ko-KR" altLang="en-US" sz="12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번호가 표시됩니다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  <a:cs typeface="맑은 고딕"/>
              </a:rPr>
              <a:t>.</a:t>
            </a:r>
          </a:p>
          <a:p>
            <a:pPr marL="12700">
              <a:lnSpc>
                <a:spcPts val="2390"/>
              </a:lnSpc>
              <a:spcBef>
                <a:spcPts val="105"/>
              </a:spcBef>
            </a:pP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우선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  <a:cs typeface="맑은 고딕"/>
              </a:rPr>
              <a:t>, </a:t>
            </a:r>
            <a:r>
              <a:rPr lang="en-US" altLang="ko-KR" sz="1200" dirty="0" err="1">
                <a:solidFill>
                  <a:srgbClr val="404040"/>
                </a:solidFill>
                <a:latin typeface="맑은 고딕"/>
                <a:cs typeface="맑은 고딕"/>
              </a:rPr>
              <a:t>NullPointerException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은 존재하지 않은 </a:t>
            </a:r>
            <a:r>
              <a:rPr lang="ko-KR" altLang="en-US" sz="1200" dirty="0" err="1">
                <a:solidFill>
                  <a:srgbClr val="404040"/>
                </a:solidFill>
                <a:latin typeface="맑은 고딕"/>
                <a:cs typeface="맑은 고딕"/>
              </a:rPr>
              <a:t>래퍼런스를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 참조할 때 발생하는 예외로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  <a:cs typeface="맑은 고딕"/>
              </a:rPr>
              <a:t>,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거의 대부분은 객체가 제대로 생성되지 않은 경우 발생합니다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  <a:cs typeface="맑은 고딕"/>
              </a:rPr>
              <a:t>.</a:t>
            </a:r>
          </a:p>
          <a:p>
            <a:pPr marL="12700">
              <a:lnSpc>
                <a:spcPts val="2390"/>
              </a:lnSpc>
              <a:spcBef>
                <a:spcPts val="105"/>
              </a:spcBef>
            </a:pPr>
            <a:endParaRPr lang="en-US" altLang="ko-KR" sz="1200" dirty="0">
              <a:solidFill>
                <a:srgbClr val="404040"/>
              </a:solidFill>
              <a:latin typeface="맑은 고딕"/>
              <a:cs typeface="맑은 고딕"/>
            </a:endParaRPr>
          </a:p>
          <a:p>
            <a:pPr marL="12700">
              <a:lnSpc>
                <a:spcPts val="2390"/>
              </a:lnSpc>
              <a:spcBef>
                <a:spcPts val="105"/>
              </a:spcBef>
            </a:pPr>
            <a:r>
              <a:rPr lang="ko-KR" altLang="en-US" sz="1200" b="1" dirty="0">
                <a:solidFill>
                  <a:srgbClr val="404040"/>
                </a:solidFill>
                <a:latin typeface="맑은 고딕"/>
                <a:cs typeface="맑은 고딕"/>
              </a:rPr>
              <a:t>예를 들어</a:t>
            </a:r>
            <a:r>
              <a:rPr lang="en-US" altLang="ko-KR" sz="1200" b="1" dirty="0">
                <a:solidFill>
                  <a:srgbClr val="404040"/>
                </a:solidFill>
                <a:latin typeface="맑은 고딕"/>
                <a:cs typeface="맑은 고딕"/>
              </a:rPr>
              <a:t>, </a:t>
            </a:r>
            <a:r>
              <a:rPr lang="ko-KR" altLang="en-US" sz="1200" b="1" dirty="0">
                <a:solidFill>
                  <a:srgbClr val="404040"/>
                </a:solidFill>
                <a:latin typeface="맑은 고딕"/>
                <a:cs typeface="맑은 고딕"/>
              </a:rPr>
              <a:t>코드를 보면 </a:t>
            </a:r>
            <a:r>
              <a:rPr lang="en-US" altLang="ko-KR" sz="1200" b="1" dirty="0">
                <a:solidFill>
                  <a:srgbClr val="404040"/>
                </a:solidFill>
                <a:latin typeface="맑은 고딕"/>
                <a:cs typeface="맑은 고딕"/>
              </a:rPr>
              <a:t>Person p</a:t>
            </a:r>
            <a:r>
              <a:rPr lang="ko-KR" altLang="en-US" sz="1200" b="1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en-US" altLang="ko-KR" sz="1200" b="1" dirty="0">
                <a:solidFill>
                  <a:srgbClr val="404040"/>
                </a:solidFill>
                <a:latin typeface="맑은 고딕"/>
                <a:cs typeface="맑은 고딕"/>
              </a:rPr>
              <a:t>=</a:t>
            </a:r>
            <a:r>
              <a:rPr lang="ko-KR" altLang="en-US" sz="1200" b="1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en-US" altLang="ko-KR" sz="1200" b="1" dirty="0">
                <a:solidFill>
                  <a:srgbClr val="404040"/>
                </a:solidFill>
                <a:latin typeface="맑은 고딕"/>
                <a:cs typeface="맑은 고딕"/>
              </a:rPr>
              <a:t>null;</a:t>
            </a:r>
            <a:r>
              <a:rPr lang="ko-KR" altLang="en-US" sz="1200" b="1" dirty="0">
                <a:solidFill>
                  <a:srgbClr val="404040"/>
                </a:solidFill>
                <a:latin typeface="맑은 고딕"/>
                <a:cs typeface="맑은 고딕"/>
              </a:rPr>
              <a:t>에서 </a:t>
            </a:r>
            <a:r>
              <a:rPr lang="en-US" altLang="ko-KR" sz="1200" b="1" dirty="0">
                <a:solidFill>
                  <a:srgbClr val="404040"/>
                </a:solidFill>
                <a:latin typeface="맑은 고딕"/>
                <a:cs typeface="맑은 고딕"/>
              </a:rPr>
              <a:t>null</a:t>
            </a:r>
            <a:r>
              <a:rPr lang="ko-KR" altLang="en-US" sz="1200" b="1" dirty="0">
                <a:solidFill>
                  <a:srgbClr val="404040"/>
                </a:solidFill>
                <a:latin typeface="맑은 고딕"/>
                <a:cs typeface="맑은 고딕"/>
              </a:rPr>
              <a:t>이 할당된 것을 볼 수 있습니다</a:t>
            </a:r>
            <a:r>
              <a:rPr lang="en-US" altLang="ko-KR" sz="1200" b="1" dirty="0">
                <a:solidFill>
                  <a:srgbClr val="404040"/>
                </a:solidFill>
                <a:latin typeface="맑은 고딕"/>
                <a:cs typeface="맑은 고딕"/>
              </a:rPr>
              <a:t>.</a:t>
            </a:r>
          </a:p>
          <a:p>
            <a:pPr marL="12700">
              <a:lnSpc>
                <a:spcPts val="2390"/>
              </a:lnSpc>
              <a:spcBef>
                <a:spcPts val="105"/>
              </a:spcBef>
            </a:pP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이처럼 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  <a:cs typeface="맑은 고딕"/>
              </a:rPr>
              <a:t>p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에 아무 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  <a:cs typeface="맑은 고딕"/>
              </a:rPr>
              <a:t>object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도 할당되지 않았기 때문에 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  <a:cs typeface="맑은 고딕"/>
              </a:rPr>
              <a:t>p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는 무늬만 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  <a:cs typeface="맑은 고딕"/>
              </a:rPr>
              <a:t>Person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이고 사실상 아무것도 접근할 수 없는 것입니다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  <a:cs typeface="맑은 고딕"/>
              </a:rPr>
              <a:t>.</a:t>
            </a:r>
          </a:p>
          <a:p>
            <a:pPr marL="12700">
              <a:lnSpc>
                <a:spcPts val="2390"/>
              </a:lnSpc>
              <a:spcBef>
                <a:spcPts val="105"/>
              </a:spcBef>
            </a:pPr>
            <a:r>
              <a:rPr lang="ko-KR" altLang="en-US" sz="1200" b="1" dirty="0">
                <a:latin typeface="맑은 고딕"/>
                <a:cs typeface="맑은 고딕"/>
              </a:rPr>
              <a:t>그렇기 때문에 이 코드를 실행시키면 다음과 같이 </a:t>
            </a:r>
            <a:r>
              <a:rPr lang="en-US" altLang="ko-KR" sz="1200" b="1" dirty="0" err="1">
                <a:latin typeface="맑은 고딕"/>
                <a:cs typeface="맑은 고딕"/>
              </a:rPr>
              <a:t>NullPointerException</a:t>
            </a:r>
            <a:r>
              <a:rPr lang="ko-KR" altLang="en-US" sz="1200" b="1" dirty="0">
                <a:latin typeface="맑은 고딕"/>
                <a:cs typeface="맑은 고딕"/>
              </a:rPr>
              <a:t>이 발생합니다</a:t>
            </a:r>
            <a:r>
              <a:rPr lang="en-US" altLang="ko-KR" sz="1200" b="1" dirty="0">
                <a:latin typeface="맑은 고딕"/>
                <a:cs typeface="맑은 고딕"/>
              </a:rPr>
              <a:t>.</a:t>
            </a:r>
          </a:p>
          <a:p>
            <a:pPr marL="12700">
              <a:lnSpc>
                <a:spcPts val="2390"/>
              </a:lnSpc>
              <a:spcBef>
                <a:spcPts val="105"/>
              </a:spcBef>
            </a:pPr>
            <a:endParaRPr lang="en-US" altLang="ko-KR" sz="1200" b="1" dirty="0">
              <a:latin typeface="맑은 고딕"/>
              <a:cs typeface="맑은 고딕"/>
            </a:endParaRPr>
          </a:p>
          <a:p>
            <a:pPr marL="12700">
              <a:lnSpc>
                <a:spcPts val="2390"/>
              </a:lnSpc>
              <a:spcBef>
                <a:spcPts val="105"/>
              </a:spcBef>
            </a:pPr>
            <a:endParaRPr lang="en-US" altLang="ko-KR" sz="1200" b="1" dirty="0">
              <a:latin typeface="맑은 고딕"/>
              <a:cs typeface="맑은 고딕"/>
            </a:endParaRPr>
          </a:p>
          <a:p>
            <a:pPr marL="12700">
              <a:lnSpc>
                <a:spcPts val="2390"/>
              </a:lnSpc>
              <a:spcBef>
                <a:spcPts val="105"/>
              </a:spcBef>
            </a:pPr>
            <a:r>
              <a:rPr lang="ko-KR" altLang="en-US" sz="1200" b="1" dirty="0">
                <a:latin typeface="맑은 고딕"/>
                <a:cs typeface="맑은 고딕"/>
              </a:rPr>
              <a:t>이해가 조금 더 필요할 수도 있을 거 같아 그림을 하나 가져왔는데</a:t>
            </a:r>
            <a:r>
              <a:rPr lang="en-US" altLang="ko-KR" sz="1200" b="1" dirty="0">
                <a:latin typeface="맑은 고딕"/>
                <a:cs typeface="맑은 고딕"/>
              </a:rPr>
              <a:t>,</a:t>
            </a:r>
            <a:r>
              <a:rPr lang="ko-KR" altLang="en-US" sz="1200" b="1" dirty="0">
                <a:latin typeface="맑은 고딕"/>
                <a:cs typeface="맑은 고딕"/>
              </a:rPr>
              <a:t> 보시면</a:t>
            </a:r>
            <a:endParaRPr lang="en-US" altLang="ko-KR" sz="1200" b="1" dirty="0">
              <a:latin typeface="맑은 고딕"/>
              <a:cs typeface="맑은 고딕"/>
            </a:endParaRPr>
          </a:p>
          <a:p>
            <a:pPr marL="12700">
              <a:lnSpc>
                <a:spcPts val="2390"/>
              </a:lnSpc>
              <a:spcBef>
                <a:spcPts val="105"/>
              </a:spcBef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Menlo"/>
              </a:rPr>
              <a:t>Person p = new Person() 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 SD Gothic Neo"/>
              </a:rPr>
              <a:t>명령어는 내가 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Menlo"/>
              </a:rPr>
              <a:t>Person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 SD Gothic Neo"/>
              </a:rPr>
              <a:t>을 위해 사용 할 공간을 메모리에 할당 한 후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 SD Gothic Neo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 SD Gothic Neo"/>
              </a:rPr>
              <a:t>그 레퍼런스를 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Menlo"/>
              </a:rPr>
              <a:t>p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 SD Gothic Neo"/>
              </a:rPr>
              <a:t>에게 할당하라는 뜻입니다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 SD Gothic Neo"/>
              </a:rPr>
              <a:t>.</a:t>
            </a:r>
          </a:p>
          <a:p>
            <a:pPr marL="12700">
              <a:lnSpc>
                <a:spcPts val="2390"/>
              </a:lnSpc>
              <a:spcBef>
                <a:spcPts val="105"/>
              </a:spcBef>
            </a:pPr>
            <a:r>
              <a:rPr lang="ko-KR" altLang="en-US" b="0" i="0" dirty="0">
                <a:solidFill>
                  <a:srgbClr val="333333"/>
                </a:solidFill>
                <a:effectLst/>
                <a:latin typeface="Apple SD Gothic Neo"/>
              </a:rPr>
              <a:t>그러나 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Menlo"/>
              </a:rPr>
              <a:t>Person p = null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 SD Gothic Neo"/>
              </a:rPr>
              <a:t>을 할 경우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 SD Gothic Neo"/>
              </a:rPr>
              <a:t>, 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Menlo"/>
              </a:rPr>
              <a:t>p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 SD Gothic Neo"/>
              </a:rPr>
              <a:t>에는 아무런 레퍼런스도 없으므로 실행 시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latin typeface="Apple SD Gothic Neo"/>
              </a:rPr>
              <a:t>N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latin typeface="Menlo"/>
              </a:rPr>
              <a:t>ullPointerException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 SD Gothic Neo"/>
              </a:rPr>
              <a:t>이 발생하는 것입니다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 SD Gothic Neo"/>
              </a:rPr>
              <a:t>.</a:t>
            </a:r>
          </a:p>
          <a:p>
            <a:pPr marL="12700">
              <a:lnSpc>
                <a:spcPts val="2390"/>
              </a:lnSpc>
              <a:spcBef>
                <a:spcPts val="105"/>
              </a:spcBef>
            </a:pPr>
            <a:br>
              <a:rPr lang="ko-KR" altLang="en-US" dirty="0"/>
            </a:br>
            <a:endParaRPr lang="en-US" altLang="ko-KR" dirty="0"/>
          </a:p>
          <a:p>
            <a:pPr marL="12700">
              <a:lnSpc>
                <a:spcPts val="2390"/>
              </a:lnSpc>
              <a:spcBef>
                <a:spcPts val="105"/>
              </a:spcBef>
            </a:pPr>
            <a:r>
              <a:rPr lang="en-US" altLang="ko-KR" b="0" i="0" dirty="0" err="1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ArrayIndexOutOfBoundsExcetion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는 배열의 범위를 벗어난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index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를 접근할 시 발생하는데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예를 들어 배열의 첨자가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0, 1, 2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까지만 있는데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번째 첨자를 참조하려 할 때 발생합니다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12700">
              <a:lnSpc>
                <a:spcPts val="2390"/>
              </a:lnSpc>
              <a:spcBef>
                <a:spcPts val="105"/>
              </a:spcBef>
            </a:pPr>
            <a:endParaRPr lang="en-US" altLang="ko-KR" b="0" i="0" dirty="0">
              <a:solidFill>
                <a:srgbClr val="000000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en-US" altLang="ko-KR" b="0" i="0" dirty="0" err="1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ArithmeticException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는 정수를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으로 나눌 경우 발생합니다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하지만 실수를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으로 나누는 경우에는 발생하지 않습니다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en-US" altLang="ko-KR" b="1" i="0" dirty="0">
              <a:solidFill>
                <a:srgbClr val="000000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1" i="0" dirty="0">
              <a:solidFill>
                <a:srgbClr val="000000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en-US" altLang="ko-KR" b="0" i="0" dirty="0" err="1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ArrayStoreException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은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int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형 배열에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String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객체를 넣으려는 것과 같이 배열에 대해 부적절한 데이터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저장시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발생합니다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en-US" altLang="ko-KR" sz="1800" b="0" i="0" dirty="0" err="1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ClassCastException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클래스 형 변환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캐스팅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연산을 잘못 했을 때 발생하는 예외입니다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0" i="0" dirty="0">
              <a:solidFill>
                <a:srgbClr val="333333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ko-KR" altLang="en-US" sz="18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다음과 같이 </a:t>
            </a:r>
            <a:r>
              <a:rPr lang="en-US" altLang="ko-KR" sz="18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String </a:t>
            </a:r>
            <a:r>
              <a:rPr lang="ko-KR" altLang="en-US" sz="18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객체를 상위 클래스인 </a:t>
            </a:r>
            <a:r>
              <a:rPr lang="en-US" altLang="ko-KR" sz="18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Object</a:t>
            </a:r>
            <a:r>
              <a:rPr lang="ko-KR" altLang="en-US" sz="18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형 </a:t>
            </a:r>
            <a:r>
              <a:rPr lang="en-US" altLang="ko-KR" sz="18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obj </a:t>
            </a:r>
            <a:r>
              <a:rPr lang="ko-KR" altLang="en-US" sz="18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참조변수에 담은 후 </a:t>
            </a:r>
            <a:r>
              <a:rPr lang="en-US" altLang="ko-KR" sz="18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Integer</a:t>
            </a:r>
            <a:r>
              <a:rPr lang="ko-KR" altLang="en-US" sz="18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형으로 </a:t>
            </a:r>
            <a:r>
              <a:rPr lang="ko-KR" altLang="en-US" sz="1800" b="1" i="0" dirty="0" err="1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형변환</a:t>
            </a:r>
            <a:r>
              <a:rPr lang="ko-KR" altLang="en-US" sz="18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하려 하는 경우 발생합니다</a:t>
            </a:r>
            <a:r>
              <a:rPr lang="en-US" altLang="ko-KR" sz="18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/>
            <a:endParaRPr lang="en-US" altLang="ko-KR" b="1" i="0" dirty="0">
              <a:solidFill>
                <a:srgbClr val="333333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-US" altLang="ko-KR" sz="1800" b="0" i="0" dirty="0" err="1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NegativeArraySizeException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배열의 크기를 </a:t>
            </a:r>
            <a:r>
              <a:rPr lang="ko-KR" altLang="en-US" sz="18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음수로 지정한 경우에 발생합니다</a:t>
            </a:r>
            <a:r>
              <a:rPr lang="en-US" altLang="ko-KR" sz="1800" b="1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 i="0" dirty="0">
              <a:solidFill>
                <a:srgbClr val="333333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B4C39-898E-4AC8-9A3D-D7A6DB1C564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874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lang="ko-KR" altLang="en-US" sz="2000" spc="-10" dirty="0">
                <a:solidFill>
                  <a:srgbClr val="404040"/>
                </a:solidFill>
                <a:latin typeface="맑은 고딕"/>
                <a:cs typeface="맑은 고딕"/>
              </a:rPr>
              <a:t>예외처리</a:t>
            </a:r>
            <a:r>
              <a:rPr lang="ko-KR" altLang="en-US" sz="2000" spc="-10" dirty="0">
                <a:solidFill>
                  <a:srgbClr val="404040"/>
                </a:solidFill>
                <a:latin typeface="Calibri"/>
                <a:cs typeface="Calibri"/>
              </a:rPr>
              <a:t>는 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실행</a:t>
            </a:r>
            <a:r>
              <a:rPr lang="ko-KR" altLang="en-US"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중에</a:t>
            </a:r>
            <a:r>
              <a:rPr lang="ko-KR" altLang="en-US" sz="1800" spc="-22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여러</a:t>
            </a:r>
            <a:r>
              <a:rPr lang="ko-KR" altLang="en-US"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이유로</a:t>
            </a:r>
            <a:r>
              <a:rPr lang="ko-KR" altLang="en-US" sz="1800" spc="-22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예상하지</a:t>
            </a:r>
            <a:r>
              <a:rPr lang="ko-KR" altLang="en-US"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못했던</a:t>
            </a:r>
            <a:r>
              <a:rPr lang="ko-KR" altLang="en-US"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문제가</a:t>
            </a:r>
            <a:r>
              <a:rPr lang="ko-KR" altLang="en-US"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발생한</a:t>
            </a:r>
            <a:r>
              <a:rPr lang="ko-KR" altLang="en-US"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경우</a:t>
            </a:r>
            <a:r>
              <a:rPr lang="ko-KR" altLang="en-US"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이를</a:t>
            </a:r>
            <a:r>
              <a:rPr lang="ko-KR" altLang="en-US" sz="1800" spc="-22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적절히 처리하는</a:t>
            </a:r>
            <a:r>
              <a:rPr lang="ko-KR" altLang="en-US"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모듈로 </a:t>
            </a:r>
            <a:r>
              <a:rPr lang="en-US" altLang="ko-KR" sz="1800" dirty="0">
                <a:solidFill>
                  <a:srgbClr val="404040"/>
                </a:solidFill>
                <a:latin typeface="Calibri"/>
                <a:cs typeface="Calibri"/>
              </a:rPr>
              <a:t>try ~ </a:t>
            </a:r>
            <a:r>
              <a:rPr lang="en-US" altLang="ko-KR" sz="1800" spc="-15" dirty="0">
                <a:solidFill>
                  <a:srgbClr val="404040"/>
                </a:solidFill>
                <a:latin typeface="Calibri"/>
                <a:cs typeface="Calibri"/>
              </a:rPr>
              <a:t>catch </a:t>
            </a:r>
            <a:r>
              <a:rPr lang="en-US" altLang="ko-KR" sz="1800" dirty="0">
                <a:solidFill>
                  <a:srgbClr val="404040"/>
                </a:solidFill>
                <a:latin typeface="Calibri"/>
                <a:cs typeface="Calibri"/>
              </a:rPr>
              <a:t>~ </a:t>
            </a:r>
            <a:r>
              <a:rPr lang="en-US" altLang="ko-KR" sz="1800" spc="-10" dirty="0">
                <a:solidFill>
                  <a:srgbClr val="404040"/>
                </a:solidFill>
                <a:latin typeface="Calibri"/>
                <a:cs typeface="Calibri"/>
              </a:rPr>
              <a:t>finally</a:t>
            </a:r>
            <a:r>
              <a:rPr lang="ko-KR" altLang="en-US" sz="18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문장으로 구성됩니다</a:t>
            </a:r>
            <a:r>
              <a:rPr lang="en-US" altLang="ko-KR" sz="1800" dirty="0">
                <a:solidFill>
                  <a:srgbClr val="404040"/>
                </a:solidFill>
                <a:latin typeface="맑은 고딕"/>
                <a:cs typeface="맑은 고딕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lang="en-US" altLang="ko-KR" sz="1800" dirty="0">
                <a:solidFill>
                  <a:srgbClr val="404040"/>
                </a:solidFill>
                <a:latin typeface="맑은 고딕"/>
                <a:cs typeface="맑은 고딕"/>
              </a:rPr>
              <a:t>Try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안에는 예외가 발생할 수 있는 문장들을 넣고</a:t>
            </a:r>
            <a:r>
              <a:rPr lang="en-US" altLang="ko-KR" sz="1800" dirty="0">
                <a:solidFill>
                  <a:srgbClr val="404040"/>
                </a:solidFill>
                <a:latin typeface="맑은 고딕"/>
                <a:cs typeface="맑은 고딕"/>
              </a:rPr>
              <a:t>, catch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에는 발생가능한 예외클래스의 참조변수를 선언합니다</a:t>
            </a:r>
            <a:r>
              <a:rPr lang="en-US" altLang="ko-KR" sz="1800" dirty="0">
                <a:solidFill>
                  <a:srgbClr val="404040"/>
                </a:solidFill>
                <a:latin typeface="맑은 고딕"/>
                <a:cs typeface="맑은 고딕"/>
              </a:rPr>
              <a:t>. 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마지막 </a:t>
            </a:r>
            <a:r>
              <a:rPr lang="en-US" altLang="ko-KR" sz="1800" dirty="0">
                <a:solidFill>
                  <a:srgbClr val="404040"/>
                </a:solidFill>
                <a:latin typeface="맑은 고딕"/>
                <a:cs typeface="맑은 고딕"/>
              </a:rPr>
              <a:t>finally</a:t>
            </a:r>
            <a:r>
              <a:rPr lang="ko-KR" altLang="en-US" sz="1800" dirty="0">
                <a:solidFill>
                  <a:srgbClr val="404040"/>
                </a:solidFill>
                <a:latin typeface="맑은 고딕"/>
                <a:cs typeface="맑은 고딕"/>
              </a:rPr>
              <a:t>는 예외 발생과 관계없이 항상 실행되는 문장으로 </a:t>
            </a:r>
            <a:r>
              <a:rPr lang="en-US" altLang="ko-KR" sz="1400" spc="-10" dirty="0">
                <a:solidFill>
                  <a:srgbClr val="404040"/>
                </a:solidFill>
                <a:latin typeface="Calibri"/>
                <a:cs typeface="Calibri"/>
              </a:rPr>
              <a:t>catch</a:t>
            </a:r>
            <a:r>
              <a:rPr lang="ko-KR" altLang="en-US" sz="1400" spc="-10" dirty="0">
                <a:solidFill>
                  <a:srgbClr val="404040"/>
                </a:solidFill>
                <a:latin typeface="맑은 고딕"/>
                <a:cs typeface="맑은 고딕"/>
              </a:rPr>
              <a:t>와</a:t>
            </a:r>
            <a:r>
              <a:rPr lang="ko-KR" altLang="en-US" sz="1400" spc="-19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en-US" altLang="ko-KR" sz="1400" spc="-5" dirty="0">
                <a:solidFill>
                  <a:srgbClr val="404040"/>
                </a:solidFill>
                <a:latin typeface="Calibri"/>
                <a:cs typeface="Calibri"/>
              </a:rPr>
              <a:t>finally</a:t>
            </a:r>
            <a:r>
              <a:rPr lang="ko-KR" altLang="en-US" sz="1400" spc="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ko-KR" altLang="en-US" sz="1400" dirty="0">
                <a:solidFill>
                  <a:srgbClr val="404040"/>
                </a:solidFill>
                <a:latin typeface="맑은 고딕"/>
                <a:cs typeface="맑은 고딕"/>
              </a:rPr>
              <a:t>둘</a:t>
            </a:r>
            <a:r>
              <a:rPr lang="ko-KR" altLang="en-US" sz="1400" spc="-19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400" dirty="0">
                <a:solidFill>
                  <a:srgbClr val="404040"/>
                </a:solidFill>
                <a:latin typeface="맑은 고딕"/>
                <a:cs typeface="맑은 고딕"/>
              </a:rPr>
              <a:t>중</a:t>
            </a:r>
            <a:r>
              <a:rPr lang="ko-KR" altLang="en-US"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400" dirty="0">
                <a:solidFill>
                  <a:srgbClr val="404040"/>
                </a:solidFill>
                <a:latin typeface="맑은 고딕"/>
                <a:cs typeface="맑은 고딕"/>
              </a:rPr>
              <a:t>하나는</a:t>
            </a:r>
            <a:r>
              <a:rPr lang="ko-KR" altLang="en-US"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lang="ko-KR" altLang="en-US" sz="1400" dirty="0">
                <a:solidFill>
                  <a:srgbClr val="404040"/>
                </a:solidFill>
                <a:latin typeface="맑은 고딕"/>
                <a:cs typeface="맑은 고딕"/>
              </a:rPr>
              <a:t>옵션입니다</a:t>
            </a:r>
            <a:r>
              <a:rPr lang="en-US" altLang="ko-KR" sz="1400" dirty="0">
                <a:solidFill>
                  <a:srgbClr val="404040"/>
                </a:solidFill>
                <a:latin typeface="맑은 고딕"/>
                <a:cs typeface="맑은 고딕"/>
              </a:rPr>
              <a:t>.</a:t>
            </a:r>
            <a:endParaRPr lang="ko-KR" altLang="en-US" sz="1400" dirty="0">
              <a:latin typeface="맑은 고딕"/>
              <a:cs typeface="맑은 고딕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B4C39-898E-4AC8-9A3D-D7A6DB1C564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084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예제 코드를 보면 </a:t>
            </a:r>
            <a:r>
              <a:rPr lang="en-US" altLang="ko-KR" dirty="0"/>
              <a:t>str</a:t>
            </a:r>
            <a:r>
              <a:rPr lang="ko-KR" altLang="en-US" dirty="0"/>
              <a:t>이라는 배열에 </a:t>
            </a:r>
            <a:r>
              <a:rPr lang="en-US" altLang="ko-KR" dirty="0"/>
              <a:t>“</a:t>
            </a:r>
            <a:r>
              <a:rPr lang="ko-KR" altLang="en-US" dirty="0"/>
              <a:t>안녕하세요</a:t>
            </a:r>
            <a:r>
              <a:rPr lang="en-US" altLang="ko-KR" dirty="0"/>
              <a:t>!＂</a:t>
            </a:r>
            <a:r>
              <a:rPr lang="ko-KR" altLang="en-US" dirty="0"/>
              <a:t>와 </a:t>
            </a:r>
            <a:r>
              <a:rPr lang="en-US" altLang="ko-KR" dirty="0"/>
              <a:t>“Hello!” </a:t>
            </a:r>
            <a:r>
              <a:rPr lang="ko-KR" altLang="en-US" dirty="0"/>
              <a:t>두 개를 </a:t>
            </a:r>
            <a:r>
              <a:rPr lang="ko-KR" altLang="en-US" dirty="0" err="1"/>
              <a:t>넣어놨습니다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후 예외가 발생할 수 있는 프린트문 </a:t>
            </a:r>
            <a:r>
              <a:rPr lang="en-US" altLang="ko-KR" dirty="0"/>
              <a:t>3</a:t>
            </a:r>
            <a:r>
              <a:rPr lang="ko-KR" altLang="en-US" dirty="0"/>
              <a:t>개를 </a:t>
            </a:r>
            <a:r>
              <a:rPr lang="en-US" altLang="ko-KR" dirty="0"/>
              <a:t>try</a:t>
            </a:r>
            <a:r>
              <a:rPr lang="ko-KR" altLang="en-US" dirty="0"/>
              <a:t>문 안에 </a:t>
            </a:r>
            <a:r>
              <a:rPr lang="ko-KR" altLang="en-US" dirty="0" err="1"/>
              <a:t>넣어놨는데</a:t>
            </a:r>
            <a:r>
              <a:rPr lang="en-US" altLang="ko-KR" dirty="0"/>
              <a:t>, </a:t>
            </a:r>
            <a:r>
              <a:rPr lang="ko-KR" altLang="en-US" dirty="0"/>
              <a:t>첫 번째 프린트문에 있는 </a:t>
            </a:r>
            <a:r>
              <a:rPr lang="en-US" altLang="ko-KR" dirty="0"/>
              <a:t>str[0]</a:t>
            </a:r>
            <a:r>
              <a:rPr lang="ko-KR" altLang="en-US" dirty="0"/>
              <a:t>은 첫 번째 첨자에 있는 </a:t>
            </a:r>
            <a:r>
              <a:rPr lang="en-US" altLang="ko-KR" dirty="0"/>
              <a:t>“</a:t>
            </a:r>
            <a:r>
              <a:rPr lang="ko-KR" altLang="en-US" dirty="0"/>
              <a:t>안녕하세요</a:t>
            </a:r>
            <a:r>
              <a:rPr lang="en-US" altLang="ko-KR" dirty="0"/>
              <a:t>!”</a:t>
            </a:r>
            <a:r>
              <a:rPr lang="ko-KR" altLang="en-US" dirty="0"/>
              <a:t>가 출력되는 정상적인 코드입니다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번째 프린트문의 </a:t>
            </a:r>
            <a:r>
              <a:rPr lang="en-US" altLang="ko-KR" dirty="0" err="1"/>
              <a:t>num.length</a:t>
            </a:r>
            <a:r>
              <a:rPr lang="ko-KR" altLang="en-US" dirty="0"/>
              <a:t>는 변수명이 틀린 예외발생 문장입니다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배열의 변수명은 </a:t>
            </a:r>
            <a:r>
              <a:rPr lang="en-US" altLang="ko-KR" dirty="0"/>
              <a:t>str</a:t>
            </a:r>
            <a:r>
              <a:rPr lang="ko-KR" altLang="en-US" dirty="0"/>
              <a:t>이었는데 이 문장에서 보면 </a:t>
            </a:r>
            <a:r>
              <a:rPr lang="en-US" altLang="ko-KR" dirty="0"/>
              <a:t>num</a:t>
            </a:r>
            <a:r>
              <a:rPr lang="ko-KR" altLang="en-US" dirty="0"/>
              <a:t>이라고 잘못 </a:t>
            </a:r>
            <a:r>
              <a:rPr lang="ko-KR" altLang="en-US" dirty="0" err="1"/>
              <a:t>써져있는</a:t>
            </a:r>
            <a:r>
              <a:rPr lang="ko-KR" altLang="en-US" dirty="0"/>
              <a:t> 것을 확인하실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 프린트문에서 </a:t>
            </a:r>
            <a:r>
              <a:rPr lang="en-US" altLang="ko-KR" dirty="0"/>
              <a:t>str[2]</a:t>
            </a:r>
            <a:r>
              <a:rPr lang="ko-KR" altLang="en-US" dirty="0"/>
              <a:t>는 아무것도 저장되어 있지 않기 때문에 오류가 발생합니다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두번째 프린트문에서 이미 예외가 발생되었기 때문에 이 프린트문은 실행되지 않고</a:t>
            </a:r>
            <a:r>
              <a:rPr lang="en-US" altLang="ko-KR" dirty="0"/>
              <a:t> </a:t>
            </a:r>
            <a:r>
              <a:rPr lang="ko-KR" altLang="en-US" dirty="0"/>
              <a:t>바로 </a:t>
            </a:r>
            <a:r>
              <a:rPr lang="en-US" altLang="ko-KR" dirty="0"/>
              <a:t>catch</a:t>
            </a:r>
            <a:r>
              <a:rPr lang="ko-KR" altLang="en-US" dirty="0"/>
              <a:t>문으로 들어가게 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Catch</a:t>
            </a:r>
            <a:r>
              <a:rPr lang="ko-KR" altLang="en-US" dirty="0"/>
              <a:t>문에서 예외의 종류를 </a:t>
            </a:r>
            <a:r>
              <a:rPr lang="en-US" altLang="ko-KR" dirty="0"/>
              <a:t>e</a:t>
            </a:r>
            <a:r>
              <a:rPr lang="ko-KR" altLang="en-US" dirty="0"/>
              <a:t>로 보여주고</a:t>
            </a:r>
            <a:r>
              <a:rPr lang="en-US" altLang="ko-KR" dirty="0"/>
              <a:t>, </a:t>
            </a:r>
            <a:r>
              <a:rPr lang="ko-KR" altLang="en-US" dirty="0"/>
              <a:t>예외 발생과 상관없이 무조건 실행되는 </a:t>
            </a:r>
            <a:r>
              <a:rPr lang="en-US" altLang="ko-KR" dirty="0"/>
              <a:t>finally</a:t>
            </a:r>
            <a:r>
              <a:rPr lang="ko-KR" altLang="en-US" dirty="0"/>
              <a:t>로 이동하여 </a:t>
            </a:r>
            <a:r>
              <a:rPr lang="en-US" altLang="ko-KR" dirty="0"/>
              <a:t>“try </a:t>
            </a:r>
            <a:r>
              <a:rPr lang="ko-KR" altLang="en-US" dirty="0"/>
              <a:t>실행</a:t>
            </a:r>
            <a:r>
              <a:rPr lang="en-US" altLang="ko-KR" dirty="0"/>
              <a:t>”</a:t>
            </a:r>
            <a:r>
              <a:rPr lang="ko-KR" altLang="en-US" dirty="0"/>
              <a:t>이라는 문장을 출력합니다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 후 </a:t>
            </a:r>
            <a:r>
              <a:rPr lang="en-US" altLang="ko-KR" dirty="0"/>
              <a:t>“</a:t>
            </a:r>
            <a:r>
              <a:rPr lang="ko-KR" altLang="en-US" dirty="0"/>
              <a:t>프로그램이 정상적으로 종료됩니다</a:t>
            </a:r>
            <a:r>
              <a:rPr lang="en-US" altLang="ko-KR" dirty="0"/>
              <a:t>.”</a:t>
            </a:r>
            <a:r>
              <a:rPr lang="ko-KR" altLang="en-US" dirty="0"/>
              <a:t>라는 프린트문은 </a:t>
            </a:r>
            <a:r>
              <a:rPr lang="en-US" altLang="ko-KR" dirty="0" err="1"/>
              <a:t>try~catch</a:t>
            </a:r>
            <a:r>
              <a:rPr lang="ko-KR" altLang="en-US" dirty="0"/>
              <a:t>문이 아닌 별도의 </a:t>
            </a:r>
            <a:r>
              <a:rPr lang="ko-KR" altLang="en-US" dirty="0" err="1"/>
              <a:t>프린트문이기</a:t>
            </a:r>
            <a:r>
              <a:rPr lang="ko-KR" altLang="en-US" dirty="0"/>
              <a:t> 때문에 마지막으로 출력되며 코드가 종료됩니다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B4C39-898E-4AC8-9A3D-D7A6DB1C564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96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Catch</a:t>
            </a:r>
            <a:r>
              <a:rPr lang="ko-KR" altLang="en-US" dirty="0"/>
              <a:t>가 여러 개일 경우 가장 위에서부터 순차적으로 예외타입을 검사합니다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발생된 예외의 유형과 일치하거나 하위 클래스이면 먼저 만나는 </a:t>
            </a:r>
            <a:r>
              <a:rPr lang="en-US" altLang="ko-KR" dirty="0"/>
              <a:t>catch</a:t>
            </a:r>
            <a:r>
              <a:rPr lang="ko-KR" altLang="en-US" dirty="0"/>
              <a:t>문 블록만을 실행합니다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여기서 주의할 점은 여러 개의 </a:t>
            </a:r>
            <a:r>
              <a:rPr lang="en-US" altLang="ko-KR" b="1" dirty="0"/>
              <a:t>catch</a:t>
            </a:r>
            <a:r>
              <a:rPr lang="ko-KR" altLang="en-US" b="1" dirty="0"/>
              <a:t>구문을 기술할 경우 가장 하위 클래스인 것부터 먼저 </a:t>
            </a:r>
            <a:r>
              <a:rPr lang="ko-KR" altLang="en-US" b="1" dirty="0" err="1"/>
              <a:t>기술해야한다는</a:t>
            </a:r>
            <a:r>
              <a:rPr lang="ko-KR" altLang="en-US" b="1" dirty="0"/>
              <a:t> 것입니다</a:t>
            </a:r>
            <a:r>
              <a:rPr lang="en-US" altLang="ko-KR" b="1" dirty="0"/>
              <a:t>.</a:t>
            </a:r>
          </a:p>
          <a:p>
            <a:r>
              <a:rPr lang="ko-KR" altLang="en-US" b="0" dirty="0"/>
              <a:t>그림을 보면 </a:t>
            </a:r>
            <a:r>
              <a:rPr lang="en-US" altLang="ko-KR" b="0" dirty="0"/>
              <a:t>Exception</a:t>
            </a:r>
            <a:r>
              <a:rPr lang="ko-KR" altLang="en-US" b="0" dirty="0"/>
              <a:t>이 가장 상위 클래스 차례로 하위 클래스인데</a:t>
            </a:r>
            <a:r>
              <a:rPr lang="en-US" altLang="ko-KR" b="0" dirty="0"/>
              <a:t>, </a:t>
            </a:r>
            <a:r>
              <a:rPr lang="en-US" altLang="ko-KR" b="0" dirty="0" err="1"/>
              <a:t>RuntimeException</a:t>
            </a:r>
            <a:r>
              <a:rPr lang="ko-KR" altLang="en-US" b="0" dirty="0"/>
              <a:t>과 </a:t>
            </a:r>
            <a:r>
              <a:rPr lang="en-US" altLang="ko-KR" dirty="0" err="1"/>
              <a:t>NullPointerException</a:t>
            </a:r>
            <a:r>
              <a:rPr lang="ko-KR" altLang="en-US" dirty="0"/>
              <a:t>이 있을 때 하위 클래스인 </a:t>
            </a:r>
            <a:r>
              <a:rPr lang="en-US" altLang="ko-KR" dirty="0" err="1"/>
              <a:t>NullPointerException</a:t>
            </a:r>
            <a:r>
              <a:rPr lang="ko-KR" altLang="en-US" dirty="0"/>
              <a:t>을 먼저 기술한 후 </a:t>
            </a:r>
            <a:r>
              <a:rPr lang="en-US" altLang="ko-KR" dirty="0" err="1"/>
              <a:t>RuntimeException</a:t>
            </a:r>
            <a:r>
              <a:rPr lang="ko-KR" altLang="en-US" dirty="0"/>
              <a:t>을 기술해야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B4C39-898E-4AC8-9A3D-D7A6DB1C564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522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예외는 체크 예외와 </a:t>
            </a:r>
            <a:r>
              <a:rPr lang="ko-KR" altLang="en-US" dirty="0" err="1"/>
              <a:t>비체크</a:t>
            </a:r>
            <a:r>
              <a:rPr lang="ko-KR" altLang="en-US" dirty="0"/>
              <a:t> 예외 두가지로 나눌 수 있는데 </a:t>
            </a:r>
            <a:r>
              <a:rPr lang="ko-KR" altLang="en-US" dirty="0" err="1"/>
              <a:t>비체크</a:t>
            </a:r>
            <a:r>
              <a:rPr lang="ko-KR" altLang="en-US" dirty="0"/>
              <a:t> 예외는 상속한 것들을 말하고</a:t>
            </a:r>
            <a:r>
              <a:rPr lang="en-US" altLang="ko-KR" dirty="0"/>
              <a:t>, </a:t>
            </a:r>
            <a:r>
              <a:rPr lang="ko-KR" altLang="en-US" dirty="0"/>
              <a:t>체크 예외는 이외의 예외들을 말합니다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물론 </a:t>
            </a:r>
            <a:r>
              <a:rPr lang="en-US" altLang="ko-KR" dirty="0" err="1"/>
              <a:t>RuntimeException</a:t>
            </a:r>
            <a:r>
              <a:rPr lang="en-US" altLang="ko-KR" dirty="0"/>
              <a:t> </a:t>
            </a:r>
            <a:r>
              <a:rPr lang="ko-KR" altLang="en-US" dirty="0"/>
              <a:t>또한 </a:t>
            </a:r>
            <a:r>
              <a:rPr lang="en-US" altLang="ko-KR" dirty="0"/>
              <a:t>Exception</a:t>
            </a:r>
            <a:r>
              <a:rPr lang="ko-KR" altLang="en-US" dirty="0"/>
              <a:t>클래스의 서브 클래스이지만</a:t>
            </a:r>
            <a:r>
              <a:rPr lang="en-US" altLang="ko-KR" dirty="0"/>
              <a:t>, </a:t>
            </a:r>
            <a:r>
              <a:rPr lang="ko-KR" altLang="en-US" dirty="0"/>
              <a:t>프로그램이 동작하는 상황에서 발생하는 예외를 처리한다는 점에서 조금 특별하게 취급합니다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algn="l"/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좀 더 자세히 말하면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, 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Lato"/>
              </a:rPr>
              <a:t>비체크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 예외는 런타임 예외라고도 불리며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,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 </a:t>
            </a:r>
            <a:r>
              <a:rPr lang="en-US" altLang="ko-KR" b="0" i="0" dirty="0" err="1">
                <a:solidFill>
                  <a:srgbClr val="555555"/>
                </a:solidFill>
                <a:effectLst/>
                <a:latin typeface="Lato"/>
              </a:rPr>
              <a:t>RuntimeException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을 상속한 예외들로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명시적으로 예외처리를 강제하지 않습니다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..</a:t>
            </a:r>
          </a:p>
          <a:p>
            <a:pPr algn="l"/>
            <a:r>
              <a:rPr lang="ko-KR" altLang="en-US" b="0" i="0" dirty="0" err="1">
                <a:solidFill>
                  <a:srgbClr val="555555"/>
                </a:solidFill>
                <a:effectLst/>
                <a:latin typeface="Lato"/>
              </a:rPr>
              <a:t>비체크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 예외는 프로그램에 오류가 있을 때 발생하도록 의도된 것으로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따로 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catch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문으로 잡거나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 throws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로 선언하지 않아도 됩니다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.</a:t>
            </a:r>
          </a:p>
          <a:p>
            <a:pPr algn="l"/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앞에서 다루었던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Exception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들이 여기에 포함됩니다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.</a:t>
            </a:r>
            <a:endParaRPr lang="en-US" altLang="ko-KR" dirty="0"/>
          </a:p>
          <a:p>
            <a:pPr algn="l"/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반면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체크 예외는 </a:t>
            </a:r>
            <a:r>
              <a:rPr lang="en-US" altLang="ko-KR" b="0" i="0" dirty="0" err="1">
                <a:solidFill>
                  <a:srgbClr val="555555"/>
                </a:solidFill>
                <a:effectLst/>
                <a:latin typeface="Lato"/>
              </a:rPr>
              <a:t>RuntimeException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을 상속하지 않는 예외들을 말하는데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체크 예외가 발생할 수 있는 메소드를 사용할 경우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복구가 가능한 예외들이기 때문에 반드시 예외를 처리하는 코드를 함께 작성해야 합니다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.</a:t>
            </a:r>
          </a:p>
          <a:p>
            <a:pPr algn="l"/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Catch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문으로 예외를 잡거나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, throws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로 예외를 자신을 호출한 클래스로 던지는 방법으로 해결해야 하는데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Lato"/>
              </a:rPr>
              <a:t>이를 해결하지 않으면 컴파일 에러가 발생합니다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Lato"/>
              </a:rPr>
              <a:t>.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B4C39-898E-4AC8-9A3D-D7A6DB1C564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811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체크 예외를 처리하기 위해서는 </a:t>
            </a:r>
            <a:r>
              <a:rPr lang="en-US" altLang="ko-KR" dirty="0"/>
              <a:t>2</a:t>
            </a:r>
            <a:r>
              <a:rPr lang="ko-KR" altLang="en-US" dirty="0"/>
              <a:t>가지 방법이 있는데</a:t>
            </a:r>
            <a:r>
              <a:rPr lang="en-US" altLang="ko-KR" dirty="0"/>
              <a:t>, </a:t>
            </a:r>
            <a:r>
              <a:rPr lang="ko-KR" altLang="en-US" dirty="0"/>
              <a:t>첫 번째는 </a:t>
            </a:r>
            <a:r>
              <a:rPr lang="en-US" altLang="ko-KR" dirty="0" err="1"/>
              <a:t>try~catch</a:t>
            </a:r>
            <a:r>
              <a:rPr lang="ko-KR" altLang="en-US" dirty="0"/>
              <a:t>문입니다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앞서 말했듯이 </a:t>
            </a:r>
            <a:r>
              <a:rPr lang="en-US" altLang="ko-KR" dirty="0"/>
              <a:t>t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  <a:cs typeface="맑은 고딕"/>
              </a:rPr>
              <a:t>ry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구문 안에는 예외가 발생할 수 있는 문장들을 넣고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  <a:cs typeface="맑은 고딕"/>
              </a:rPr>
              <a:t>, catch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  <a:cs typeface="맑은 고딕"/>
              </a:rPr>
              <a:t>에는 발생가능한 예외클래스의 참조변수를 선언하면 됩니다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  <a:cs typeface="맑은 고딕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dirty="0">
                <a:latin typeface="맑은 고딕"/>
                <a:cs typeface="맑은 고딕"/>
              </a:rPr>
              <a:t>두번째로는 </a:t>
            </a:r>
            <a:r>
              <a:rPr lang="en-US" altLang="ko-KR" sz="1050" dirty="0">
                <a:latin typeface="맑은 고딕"/>
                <a:cs typeface="맑은 고딕"/>
              </a:rPr>
              <a:t>throws</a:t>
            </a:r>
            <a:r>
              <a:rPr lang="ko-KR" altLang="en-US" sz="1050" dirty="0">
                <a:latin typeface="맑은 고딕"/>
                <a:cs typeface="맑은 고딕"/>
              </a:rPr>
              <a:t>인데 </a:t>
            </a:r>
            <a:r>
              <a:rPr lang="en-US" altLang="ko-KR" sz="1050" dirty="0">
                <a:latin typeface="맑은 고딕"/>
                <a:cs typeface="맑은 고딕"/>
              </a:rPr>
              <a:t>＇</a:t>
            </a:r>
            <a:r>
              <a:rPr lang="ko-KR" altLang="en-US" sz="1050" dirty="0">
                <a:latin typeface="맑은 고딕"/>
                <a:cs typeface="맑은 고딕"/>
              </a:rPr>
              <a:t>예외를 던지다</a:t>
            </a:r>
            <a:r>
              <a:rPr lang="en-US" altLang="ko-KR" sz="1050" dirty="0">
                <a:latin typeface="맑은 고딕"/>
                <a:cs typeface="맑은 고딕"/>
              </a:rPr>
              <a:t>＇</a:t>
            </a:r>
            <a:r>
              <a:rPr lang="ko-KR" altLang="en-US" sz="1050" dirty="0">
                <a:latin typeface="맑은 고딕"/>
                <a:cs typeface="맑은 고딕"/>
              </a:rPr>
              <a:t>라는 말 그대로 입니다</a:t>
            </a:r>
            <a:r>
              <a:rPr lang="en-US" altLang="ko-KR" sz="1050" dirty="0">
                <a:latin typeface="맑은 고딕"/>
                <a:cs typeface="맑은 고딕"/>
              </a:rPr>
              <a:t>. </a:t>
            </a:r>
            <a:r>
              <a:rPr lang="ko-KR" altLang="en-US" sz="1050" dirty="0">
                <a:latin typeface="맑은 고딕"/>
                <a:cs typeface="맑은 고딕"/>
              </a:rPr>
              <a:t>어떠한 메소드의 내부 소스코드에서 에러가 발생했을 시 예외처리를 </a:t>
            </a:r>
            <a:r>
              <a:rPr lang="en-US" altLang="ko-KR" sz="1050" dirty="0">
                <a:latin typeface="맑은 고딕"/>
                <a:cs typeface="맑은 고딕"/>
              </a:rPr>
              <a:t>“</a:t>
            </a:r>
            <a:r>
              <a:rPr lang="en-US" altLang="ko-KR" sz="1050" dirty="0" err="1">
                <a:latin typeface="맑은 고딕"/>
                <a:cs typeface="맑은 고딕"/>
              </a:rPr>
              <a:t>try~catch</a:t>
            </a:r>
            <a:r>
              <a:rPr lang="en-US" altLang="ko-KR" sz="1050" dirty="0">
                <a:latin typeface="맑은 고딕"/>
                <a:cs typeface="맑은 고딕"/>
              </a:rPr>
              <a:t>”</a:t>
            </a:r>
            <a:r>
              <a:rPr lang="ko-KR" altLang="en-US" sz="1050" dirty="0">
                <a:latin typeface="맑은 고딕"/>
                <a:cs typeface="맑은 고딕"/>
              </a:rPr>
              <a:t>로 자기자신이 예외처리를 하는 것이 아니라</a:t>
            </a:r>
            <a:r>
              <a:rPr lang="en-US" altLang="ko-KR" sz="1050" dirty="0">
                <a:latin typeface="맑은 고딕"/>
                <a:cs typeface="맑은 고딕"/>
              </a:rPr>
              <a:t>, </a:t>
            </a:r>
            <a:r>
              <a:rPr lang="ko-KR" altLang="en-US" sz="1050" dirty="0">
                <a:latin typeface="맑은 고딕"/>
                <a:cs typeface="맑은 고딕"/>
              </a:rPr>
              <a:t>이 메소드를 사용하는 곳으로 책임을 전가하는 행위를 말합니다</a:t>
            </a:r>
            <a:r>
              <a:rPr lang="en-US" altLang="ko-KR" sz="1050" dirty="0">
                <a:latin typeface="맑은 고딕"/>
                <a:cs typeface="맑은 고딕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dirty="0">
                <a:latin typeface="맑은 고딕"/>
                <a:cs typeface="맑은 고딕"/>
              </a:rPr>
              <a:t>다시 말해 이 메소드를 호출한 상위 </a:t>
            </a:r>
            <a:r>
              <a:rPr lang="ko-KR" altLang="en-US" sz="1050" dirty="0" err="1">
                <a:latin typeface="맑은 고딕"/>
                <a:cs typeface="맑은 고딕"/>
              </a:rPr>
              <a:t>메소드한테</a:t>
            </a:r>
            <a:r>
              <a:rPr lang="ko-KR" altLang="en-US" sz="1050" dirty="0">
                <a:latin typeface="맑은 고딕"/>
                <a:cs typeface="맑은 고딕"/>
              </a:rPr>
              <a:t> 예외처리를 미루는 것입니다</a:t>
            </a:r>
            <a:r>
              <a:rPr lang="en-US" altLang="ko-KR" sz="1050" dirty="0">
                <a:latin typeface="맑은 고딕"/>
                <a:cs typeface="맑은 고딕"/>
              </a:rPr>
              <a:t>.</a:t>
            </a:r>
            <a:endParaRPr lang="ko-KR" altLang="en-US" sz="1050" dirty="0">
              <a:latin typeface="맑은 고딕"/>
              <a:cs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B4C39-898E-4AC8-9A3D-D7A6DB1C564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147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799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0" y="457199"/>
                </a:moveTo>
                <a:lnTo>
                  <a:pt x="9144000" y="457199"/>
                </a:lnTo>
                <a:lnTo>
                  <a:pt x="9144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0" y="67055"/>
                </a:moveTo>
                <a:lnTo>
                  <a:pt x="9144000" y="67055"/>
                </a:lnTo>
                <a:lnTo>
                  <a:pt x="9144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35152" y="1269491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2004" y="501218"/>
            <a:ext cx="733999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93980">
              <a:lnSpc>
                <a:spcPts val="110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AB610D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93980">
              <a:lnSpc>
                <a:spcPts val="110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799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0" y="457199"/>
                </a:moveTo>
                <a:lnTo>
                  <a:pt x="9144000" y="457199"/>
                </a:lnTo>
                <a:lnTo>
                  <a:pt x="9144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0" y="67055"/>
                </a:moveTo>
                <a:lnTo>
                  <a:pt x="9144000" y="67055"/>
                </a:lnTo>
                <a:lnTo>
                  <a:pt x="9144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35152" y="1269491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AB610D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93980">
              <a:lnSpc>
                <a:spcPts val="110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799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0" y="457199"/>
                </a:moveTo>
                <a:lnTo>
                  <a:pt x="9144000" y="457199"/>
                </a:lnTo>
                <a:lnTo>
                  <a:pt x="9144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0" y="67055"/>
                </a:moveTo>
                <a:lnTo>
                  <a:pt x="9144000" y="67055"/>
                </a:lnTo>
                <a:lnTo>
                  <a:pt x="9144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35152" y="1269491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AB610D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93980">
              <a:lnSpc>
                <a:spcPts val="110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47" y="6400799"/>
            <a:ext cx="9141460" cy="457200"/>
          </a:xfrm>
          <a:custGeom>
            <a:avLst/>
            <a:gdLst/>
            <a:ahLst/>
            <a:cxnLst/>
            <a:rect l="l" t="t" r="r" b="b"/>
            <a:pathLst>
              <a:path w="9141460" h="457200">
                <a:moveTo>
                  <a:pt x="0" y="457199"/>
                </a:moveTo>
                <a:lnTo>
                  <a:pt x="9140952" y="457199"/>
                </a:lnTo>
                <a:lnTo>
                  <a:pt x="9140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333744"/>
            <a:ext cx="9141460" cy="64135"/>
          </a:xfrm>
          <a:custGeom>
            <a:avLst/>
            <a:gdLst/>
            <a:ahLst/>
            <a:cxnLst/>
            <a:rect l="l" t="t" r="r" b="b"/>
            <a:pathLst>
              <a:path w="9141460" h="64135">
                <a:moveTo>
                  <a:pt x="0" y="64007"/>
                </a:moveTo>
                <a:lnTo>
                  <a:pt x="9140952" y="64007"/>
                </a:lnTo>
                <a:lnTo>
                  <a:pt x="9140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905255" y="4343400"/>
            <a:ext cx="7406640" cy="0"/>
          </a:xfrm>
          <a:custGeom>
            <a:avLst/>
            <a:gdLst/>
            <a:ahLst/>
            <a:cxnLst/>
            <a:rect l="l" t="t" r="r" b="b"/>
            <a:pathLst>
              <a:path w="7406640">
                <a:moveTo>
                  <a:pt x="0" y="0"/>
                </a:moveTo>
                <a:lnTo>
                  <a:pt x="740664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93980">
              <a:lnSpc>
                <a:spcPts val="110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799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0" y="457199"/>
                </a:moveTo>
                <a:lnTo>
                  <a:pt x="9144000" y="457199"/>
                </a:lnTo>
                <a:lnTo>
                  <a:pt x="9144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004" y="501218"/>
            <a:ext cx="375348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AB610D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19625" y="1403096"/>
            <a:ext cx="4438650" cy="1863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5685" y="6575323"/>
            <a:ext cx="18795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93980">
              <a:lnSpc>
                <a:spcPts val="110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7" y="6400799"/>
            <a:ext cx="9141460" cy="457200"/>
          </a:xfrm>
          <a:custGeom>
            <a:avLst/>
            <a:gdLst/>
            <a:ahLst/>
            <a:cxnLst/>
            <a:rect l="l" t="t" r="r" b="b"/>
            <a:pathLst>
              <a:path w="9141460" h="457200">
                <a:moveTo>
                  <a:pt x="0" y="457199"/>
                </a:moveTo>
                <a:lnTo>
                  <a:pt x="9140952" y="457199"/>
                </a:lnTo>
                <a:lnTo>
                  <a:pt x="9140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333744"/>
            <a:ext cx="9141460" cy="64135"/>
          </a:xfrm>
          <a:custGeom>
            <a:avLst/>
            <a:gdLst/>
            <a:ahLst/>
            <a:cxnLst/>
            <a:rect l="l" t="t" r="r" b="b"/>
            <a:pathLst>
              <a:path w="9141460" h="64135">
                <a:moveTo>
                  <a:pt x="0" y="64007"/>
                </a:moveTo>
                <a:lnTo>
                  <a:pt x="9140952" y="64007"/>
                </a:lnTo>
                <a:lnTo>
                  <a:pt x="9140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67410" y="3755615"/>
            <a:ext cx="7406640" cy="0"/>
          </a:xfrm>
          <a:custGeom>
            <a:avLst/>
            <a:gdLst/>
            <a:ahLst/>
            <a:cxnLst/>
            <a:rect l="l" t="t" r="r" b="b"/>
            <a:pathLst>
              <a:path w="7406640">
                <a:moveTo>
                  <a:pt x="0" y="0"/>
                </a:moveTo>
                <a:lnTo>
                  <a:pt x="7406639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71548" y="3141539"/>
            <a:ext cx="2122805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b="1" i="1" spc="-80" dirty="0">
                <a:solidFill>
                  <a:srgbClr val="C00000"/>
                </a:solidFill>
                <a:latin typeface="맑은 고딕"/>
                <a:cs typeface="맑은 고딕"/>
              </a:rPr>
              <a:t>Section</a:t>
            </a:r>
            <a:r>
              <a:rPr sz="3450" b="1" i="1" spc="-11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3450" b="1" i="1" spc="-90" dirty="0">
                <a:solidFill>
                  <a:srgbClr val="C00000"/>
                </a:solidFill>
                <a:latin typeface="맑은 고딕"/>
                <a:cs typeface="맑은 고딕"/>
              </a:rPr>
              <a:t>01</a:t>
            </a:r>
            <a:endParaRPr sz="3450">
              <a:latin typeface="맑은 고딕"/>
              <a:cs typeface="맑은 고딕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11166" y="3141539"/>
            <a:ext cx="2688590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b="1" i="1" spc="-155" dirty="0">
                <a:latin typeface="맑은 고딕"/>
                <a:cs typeface="맑은 고딕"/>
              </a:rPr>
              <a:t>예외처리</a:t>
            </a:r>
            <a:r>
              <a:rPr sz="3450" b="1" i="1" spc="-114" dirty="0">
                <a:latin typeface="맑은 고딕"/>
                <a:cs typeface="맑은 고딕"/>
              </a:rPr>
              <a:t> </a:t>
            </a:r>
            <a:r>
              <a:rPr sz="3450" b="1" i="1" spc="-155" dirty="0">
                <a:latin typeface="맑은 고딕"/>
                <a:cs typeface="맑은 고딕"/>
              </a:rPr>
              <a:t>개요</a:t>
            </a:r>
            <a:endParaRPr sz="3450">
              <a:latin typeface="맑은 고딕"/>
              <a:cs typeface="맑은 고딕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8123" y="3956053"/>
            <a:ext cx="158623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b="1" i="1" spc="-90" dirty="0">
                <a:solidFill>
                  <a:srgbClr val="404040"/>
                </a:solidFill>
                <a:latin typeface="맑은 고딕"/>
                <a:cs typeface="맑은 고딕"/>
              </a:rPr>
              <a:t>Chapter</a:t>
            </a:r>
            <a:r>
              <a:rPr sz="2500" b="1" i="1" spc="-17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2500" b="1" i="1" spc="-80" dirty="0">
                <a:solidFill>
                  <a:srgbClr val="404040"/>
                </a:solidFill>
                <a:latin typeface="맑은 고딕"/>
                <a:cs typeface="맑은 고딕"/>
              </a:rPr>
              <a:t>08</a:t>
            </a:r>
            <a:endParaRPr sz="2500" dirty="0">
              <a:latin typeface="맑은 고딕"/>
              <a:cs typeface="맑은 고딕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54588" y="4266027"/>
            <a:ext cx="3801745" cy="60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b="1" i="1" spc="-235" dirty="0" err="1">
                <a:solidFill>
                  <a:srgbClr val="404040"/>
                </a:solidFill>
                <a:latin typeface="맑은 고딕"/>
                <a:cs typeface="맑은 고딕"/>
              </a:rPr>
              <a:t>예외처리</a:t>
            </a:r>
            <a:endParaRPr sz="3800" dirty="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0" y="67055"/>
                </a:moveTo>
                <a:lnTo>
                  <a:pt x="9144000" y="67055"/>
                </a:lnTo>
                <a:lnTo>
                  <a:pt x="9144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5152" y="1269491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2004" y="501218"/>
            <a:ext cx="26416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예외와</a:t>
            </a:r>
            <a:r>
              <a:rPr spc="-690" dirty="0"/>
              <a:t> </a:t>
            </a:r>
            <a:r>
              <a:rPr spc="-55" dirty="0"/>
              <a:t>에러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8200" y="1600200"/>
            <a:ext cx="7611822" cy="2592376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자바에서</a:t>
            </a:r>
            <a:r>
              <a:rPr sz="2000" spc="-28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오류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맑은 고딕"/>
                <a:cs typeface="맑은 고딕"/>
              </a:rPr>
              <a:t>에러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(error)</a:t>
            </a:r>
            <a:r>
              <a:rPr sz="2000" spc="-5" dirty="0">
                <a:solidFill>
                  <a:srgbClr val="404040"/>
                </a:solidFill>
                <a:latin typeface="맑은 고딕"/>
                <a:cs typeface="맑은 고딕"/>
              </a:rPr>
              <a:t>와</a:t>
            </a:r>
            <a:r>
              <a:rPr sz="2000" spc="-254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맑은 고딕"/>
                <a:cs typeface="맑은 고딕"/>
              </a:rPr>
              <a:t>예외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(exception)</a:t>
            </a:r>
            <a:r>
              <a:rPr sz="2000" spc="-10" dirty="0">
                <a:solidFill>
                  <a:srgbClr val="404040"/>
                </a:solidFill>
                <a:latin typeface="맑은 고딕"/>
                <a:cs typeface="맑은 고딕"/>
              </a:rPr>
              <a:t>로</a:t>
            </a:r>
            <a:r>
              <a:rPr sz="2000" spc="-27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구별</a:t>
            </a:r>
            <a:endParaRPr sz="2000" dirty="0">
              <a:latin typeface="맑은 고딕"/>
              <a:cs typeface="맑은 고딕"/>
            </a:endParaRPr>
          </a:p>
          <a:p>
            <a:pPr marL="304800" indent="-182880">
              <a:lnSpc>
                <a:spcPct val="100000"/>
              </a:lnSpc>
              <a:spcBef>
                <a:spcPts val="190"/>
              </a:spcBef>
              <a:buClr>
                <a:srgbClr val="E38312"/>
              </a:buClr>
              <a:buFont typeface="Calibri"/>
              <a:buChar char="◦"/>
              <a:tabLst>
                <a:tab pos="305435" algn="l"/>
              </a:tabLst>
            </a:pP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예외</a:t>
            </a:r>
            <a:endParaRPr sz="1800" dirty="0">
              <a:latin typeface="맑은 고딕"/>
              <a:cs typeface="맑은 고딕"/>
            </a:endParaRPr>
          </a:p>
          <a:p>
            <a:pPr marL="487680" lvl="1" indent="-182880">
              <a:lnSpc>
                <a:spcPct val="100000"/>
              </a:lnSpc>
              <a:spcBef>
                <a:spcPts val="459"/>
              </a:spcBef>
              <a:buClr>
                <a:srgbClr val="E38312"/>
              </a:buClr>
              <a:buFont typeface="Calibri"/>
              <a:buChar char="◦"/>
              <a:tabLst>
                <a:tab pos="48831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자바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프로그램에서</a:t>
            </a:r>
            <a:r>
              <a:rPr sz="1400" spc="-204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실행</a:t>
            </a:r>
            <a:r>
              <a:rPr sz="1400" spc="-18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중에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발생할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수</a:t>
            </a:r>
            <a:r>
              <a:rPr sz="1400" spc="-18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있는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FF0000"/>
                </a:solidFill>
                <a:latin typeface="맑은 고딕"/>
                <a:cs typeface="맑은 고딕"/>
              </a:rPr>
              <a:t>경미한</a:t>
            </a:r>
            <a:r>
              <a:rPr sz="1400" spc="-19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FF0000"/>
                </a:solidFill>
                <a:latin typeface="맑은 고딕"/>
                <a:cs typeface="맑은 고딕"/>
              </a:rPr>
              <a:t>오류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를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예외</a:t>
            </a:r>
            <a:endParaRPr sz="1400" dirty="0">
              <a:latin typeface="맑은 고딕"/>
              <a:cs typeface="맑은 고딕"/>
            </a:endParaRPr>
          </a:p>
          <a:p>
            <a:pPr marL="487680" lvl="1" indent="-182880">
              <a:lnSpc>
                <a:spcPct val="100000"/>
              </a:lnSpc>
              <a:spcBef>
                <a:spcPts val="434"/>
              </a:spcBef>
              <a:buClr>
                <a:srgbClr val="E38312"/>
              </a:buClr>
              <a:buFont typeface="Calibri"/>
              <a:buChar char="◦"/>
              <a:tabLst>
                <a:tab pos="48831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적절한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처리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모듈을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추가하여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발생한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문제를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FF0000"/>
                </a:solidFill>
                <a:latin typeface="맑은 고딕"/>
                <a:cs typeface="맑은 고딕"/>
              </a:rPr>
              <a:t>복구</a:t>
            </a:r>
            <a:r>
              <a:rPr sz="1400" spc="-19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FF0000"/>
                </a:solidFill>
                <a:latin typeface="맑은 고딕"/>
                <a:cs typeface="맑은 고딕"/>
              </a:rPr>
              <a:t>가능</a:t>
            </a:r>
          </a:p>
          <a:p>
            <a:pPr marL="487680" lvl="1" indent="-182880">
              <a:lnSpc>
                <a:spcPct val="100000"/>
              </a:lnSpc>
              <a:spcBef>
                <a:spcPts val="445"/>
              </a:spcBef>
              <a:buClr>
                <a:srgbClr val="E38312"/>
              </a:buClr>
              <a:buChar char="◦"/>
              <a:tabLst>
                <a:tab pos="488315" algn="l"/>
              </a:tabLst>
            </a:pP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IndexOutOfBoundsException</a:t>
            </a:r>
            <a:r>
              <a:rPr sz="1400" spc="-10" dirty="0">
                <a:solidFill>
                  <a:srgbClr val="404040"/>
                </a:solidFill>
                <a:latin typeface="맑은 고딕"/>
                <a:cs typeface="맑은 고딕"/>
              </a:rPr>
              <a:t>과</a:t>
            </a:r>
            <a:r>
              <a:rPr sz="1400" spc="-1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같이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MS Gothic"/>
                <a:cs typeface="MS Gothic"/>
              </a:rPr>
              <a:t>◯</a:t>
            </a:r>
            <a:r>
              <a:rPr sz="1400" spc="-390" dirty="0">
                <a:solidFill>
                  <a:srgbClr val="404040"/>
                </a:solidFill>
                <a:latin typeface="MS Gothic"/>
                <a:cs typeface="MS Gothic"/>
              </a:rPr>
              <a:t> </a:t>
            </a:r>
            <a:r>
              <a:rPr sz="1400" dirty="0">
                <a:solidFill>
                  <a:srgbClr val="404040"/>
                </a:solidFill>
                <a:latin typeface="MS Gothic"/>
                <a:cs typeface="MS Gothic"/>
              </a:rPr>
              <a:t>◯</a:t>
            </a:r>
            <a:r>
              <a:rPr sz="1400" spc="-390" dirty="0">
                <a:solidFill>
                  <a:srgbClr val="404040"/>
                </a:solidFill>
                <a:latin typeface="MS Gothic"/>
                <a:cs typeface="MS Gothic"/>
              </a:rPr>
              <a:t> </a:t>
            </a:r>
            <a:r>
              <a:rPr sz="1400" dirty="0">
                <a:solidFill>
                  <a:srgbClr val="404040"/>
                </a:solidFill>
                <a:latin typeface="MS Gothic"/>
                <a:cs typeface="MS Gothic"/>
              </a:rPr>
              <a:t>◯</a:t>
            </a:r>
            <a:r>
              <a:rPr sz="1400" spc="-400" dirty="0">
                <a:solidFill>
                  <a:srgbClr val="404040"/>
                </a:solidFill>
                <a:latin typeface="MS Gothic"/>
                <a:cs typeface="MS Gothic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Exception</a:t>
            </a:r>
            <a:r>
              <a:rPr sz="1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형태</a:t>
            </a:r>
            <a:endParaRPr sz="1400" dirty="0">
              <a:latin typeface="맑은 고딕"/>
              <a:cs typeface="맑은 고딕"/>
            </a:endParaRPr>
          </a:p>
          <a:p>
            <a:pPr marL="304800" indent="-182880">
              <a:lnSpc>
                <a:spcPct val="100000"/>
              </a:lnSpc>
              <a:spcBef>
                <a:spcPts val="345"/>
              </a:spcBef>
              <a:buClr>
                <a:srgbClr val="E38312"/>
              </a:buClr>
              <a:buFont typeface="Calibri"/>
              <a:buChar char="◦"/>
              <a:tabLst>
                <a:tab pos="305435" algn="l"/>
              </a:tabLst>
            </a:pP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에러</a:t>
            </a:r>
            <a:endParaRPr sz="1800" dirty="0">
              <a:latin typeface="맑은 고딕"/>
              <a:cs typeface="맑은 고딕"/>
            </a:endParaRPr>
          </a:p>
          <a:p>
            <a:pPr marL="487680" lvl="1" indent="-182880">
              <a:lnSpc>
                <a:spcPct val="100000"/>
              </a:lnSpc>
              <a:spcBef>
                <a:spcPts val="459"/>
              </a:spcBef>
              <a:buClr>
                <a:srgbClr val="E38312"/>
              </a:buClr>
              <a:buFont typeface="Calibri"/>
              <a:buChar char="◦"/>
              <a:tabLst>
                <a:tab pos="48831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메모리나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내부의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심각한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문제</a:t>
            </a:r>
            <a:endParaRPr sz="1400" dirty="0">
              <a:latin typeface="맑은 고딕"/>
              <a:cs typeface="맑은 고딕"/>
            </a:endParaRPr>
          </a:p>
          <a:p>
            <a:pPr marL="487680" lvl="1" indent="-182880">
              <a:lnSpc>
                <a:spcPct val="100000"/>
              </a:lnSpc>
              <a:spcBef>
                <a:spcPts val="430"/>
              </a:spcBef>
              <a:buClr>
                <a:srgbClr val="E38312"/>
              </a:buClr>
              <a:buFont typeface="Calibri"/>
              <a:buChar char="◦"/>
              <a:tabLst>
                <a:tab pos="488315" algn="l"/>
              </a:tabLst>
            </a:pPr>
            <a:r>
              <a:rPr sz="1400" dirty="0">
                <a:solidFill>
                  <a:srgbClr val="FF0000"/>
                </a:solidFill>
                <a:latin typeface="맑은 고딕"/>
                <a:cs typeface="맑은 고딕"/>
              </a:rPr>
              <a:t>복구가</a:t>
            </a:r>
            <a:r>
              <a:rPr sz="1400" spc="-20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400" dirty="0" err="1">
                <a:solidFill>
                  <a:srgbClr val="FF0000"/>
                </a:solidFill>
                <a:latin typeface="맑은 고딕"/>
                <a:cs typeface="맑은 고딕"/>
              </a:rPr>
              <a:t>불가능한</a:t>
            </a:r>
            <a:r>
              <a:rPr sz="1400" spc="-20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400" dirty="0" err="1">
                <a:solidFill>
                  <a:srgbClr val="FF0000"/>
                </a:solidFill>
                <a:latin typeface="맑은 고딕"/>
                <a:cs typeface="맑은 고딕"/>
              </a:rPr>
              <a:t>오류</a:t>
            </a:r>
            <a:endParaRPr lang="en-US" sz="1400" dirty="0">
              <a:solidFill>
                <a:srgbClr val="FF0000"/>
              </a:solidFill>
              <a:latin typeface="맑은 고딕"/>
              <a:cs typeface="맑은 고딕"/>
            </a:endParaRPr>
          </a:p>
          <a:p>
            <a:pPr marL="487680" lvl="1" indent="-182880">
              <a:lnSpc>
                <a:spcPct val="100000"/>
              </a:lnSpc>
              <a:spcBef>
                <a:spcPts val="430"/>
              </a:spcBef>
              <a:buClr>
                <a:srgbClr val="E38312"/>
              </a:buClr>
              <a:buFont typeface="Calibri"/>
              <a:buChar char="◦"/>
              <a:tabLst>
                <a:tab pos="488315" algn="l"/>
              </a:tabLst>
            </a:pPr>
            <a:r>
              <a:rPr lang="ko-KR" altLang="en-US" sz="1400" dirty="0">
                <a:latin typeface="맑은 고딕"/>
                <a:cs typeface="맑은 고딕"/>
              </a:rPr>
              <a:t>개발자가 미리 예측하여 처리할 수 없기 때문에 오류에 대한 처리를 신경 쓰지 않아도 됨</a:t>
            </a:r>
            <a:endParaRPr sz="1400" dirty="0">
              <a:latin typeface="맑은 고딕"/>
              <a:cs typeface="맑은 고딕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96940" y="153873"/>
            <a:ext cx="2516886" cy="2614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3980">
              <a:lnSpc>
                <a:spcPts val="1105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349352-F558-43E9-8F61-1B3812D3A25E}"/>
              </a:ext>
            </a:extLst>
          </p:cNvPr>
          <p:cNvSpPr txBox="1"/>
          <p:nvPr/>
        </p:nvSpPr>
        <p:spPr>
          <a:xfrm>
            <a:off x="1661592" y="3066739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외부적 요인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0" y="67055"/>
                </a:moveTo>
                <a:lnTo>
                  <a:pt x="9144000" y="67055"/>
                </a:lnTo>
                <a:lnTo>
                  <a:pt x="9144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5152" y="1269491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2004" y="501218"/>
            <a:ext cx="42557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다양한</a:t>
            </a:r>
            <a:r>
              <a:rPr spc="-655" dirty="0"/>
              <a:t> </a:t>
            </a:r>
            <a:r>
              <a:rPr spc="-35" dirty="0"/>
              <a:t>예외의</a:t>
            </a:r>
            <a:r>
              <a:rPr spc="-640" dirty="0"/>
              <a:t> </a:t>
            </a:r>
            <a:r>
              <a:rPr spc="-55" dirty="0"/>
              <a:t>발생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2004" y="1378661"/>
            <a:ext cx="7419340" cy="4375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105"/>
              </a:spcBef>
            </a:pP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예외가</a:t>
            </a:r>
            <a:r>
              <a:rPr sz="2000" spc="-28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발생하면</a:t>
            </a:r>
            <a:endParaRPr sz="2000" dirty="0">
              <a:latin typeface="맑은 고딕"/>
              <a:cs typeface="맑은 고딕"/>
            </a:endParaRPr>
          </a:p>
          <a:p>
            <a:pPr marL="304800" indent="-182880">
              <a:lnSpc>
                <a:spcPts val="2150"/>
              </a:lnSpc>
              <a:buClr>
                <a:srgbClr val="E38312"/>
              </a:buClr>
              <a:buFont typeface="Calibri"/>
              <a:buChar char="◦"/>
              <a:tabLst>
                <a:tab pos="305435" algn="l"/>
              </a:tabLst>
            </a:pP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바로</a:t>
            </a:r>
            <a:r>
              <a:rPr sz="1800" spc="-24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프로그램이</a:t>
            </a:r>
            <a:r>
              <a:rPr sz="1800" spc="-22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중단되므로</a:t>
            </a:r>
            <a:r>
              <a:rPr sz="18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발생한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이후의</a:t>
            </a:r>
            <a:r>
              <a:rPr sz="18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프로그램을</a:t>
            </a:r>
            <a:r>
              <a:rPr sz="18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실행되지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않음</a:t>
            </a:r>
            <a:endParaRPr sz="1800" dirty="0">
              <a:latin typeface="맑은 고딕"/>
              <a:cs typeface="맑은 고딕"/>
            </a:endParaRPr>
          </a:p>
          <a:p>
            <a:pPr marL="304800" marR="5080" indent="-182880">
              <a:lnSpc>
                <a:spcPct val="80000"/>
              </a:lnSpc>
              <a:spcBef>
                <a:spcPts val="600"/>
              </a:spcBef>
              <a:buClr>
                <a:srgbClr val="E38312"/>
              </a:buClr>
              <a:buFont typeface="Calibri"/>
              <a:buChar char="◦"/>
              <a:tabLst>
                <a:tab pos="305435" algn="l"/>
              </a:tabLst>
            </a:pP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발생한</a:t>
            </a:r>
            <a:r>
              <a:rPr sz="1800" spc="-24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예외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클래스의</a:t>
            </a:r>
            <a:r>
              <a:rPr sz="18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이름과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예외가</a:t>
            </a:r>
            <a:r>
              <a:rPr sz="18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발생한</a:t>
            </a:r>
            <a:r>
              <a:rPr sz="18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프로그램</a:t>
            </a:r>
            <a:r>
              <a:rPr sz="1800" spc="-22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소스와</a:t>
            </a:r>
            <a:r>
              <a:rPr sz="18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줄</a:t>
            </a:r>
            <a:r>
              <a:rPr sz="18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번호가  표시</a:t>
            </a:r>
            <a:endParaRPr sz="1800" dirty="0">
              <a:latin typeface="맑은 고딕"/>
              <a:cs typeface="맑은 고딕"/>
            </a:endParaRPr>
          </a:p>
          <a:p>
            <a:pPr marL="304800" indent="-182880">
              <a:lnSpc>
                <a:spcPct val="100000"/>
              </a:lnSpc>
              <a:spcBef>
                <a:spcPts val="170"/>
              </a:spcBef>
              <a:buClr>
                <a:srgbClr val="E38312"/>
              </a:buClr>
              <a:buChar char="◦"/>
              <a:tabLst>
                <a:tab pos="305435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NullPointerException</a:t>
            </a:r>
            <a:endParaRPr sz="1800" dirty="0">
              <a:latin typeface="Calibri"/>
              <a:cs typeface="Calibri"/>
            </a:endParaRPr>
          </a:p>
          <a:p>
            <a:pPr marL="487680" lvl="1" indent="-182880">
              <a:lnSpc>
                <a:spcPct val="100000"/>
              </a:lnSpc>
              <a:spcBef>
                <a:spcPts val="280"/>
              </a:spcBef>
              <a:buClr>
                <a:srgbClr val="E38312"/>
              </a:buClr>
              <a:buFont typeface="Calibri"/>
              <a:buChar char="◦"/>
              <a:tabLst>
                <a:tab pos="48831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실제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변수에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저장된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객체가</a:t>
            </a:r>
            <a:r>
              <a:rPr sz="1400" spc="-18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null</a:t>
            </a:r>
            <a:r>
              <a:rPr sz="1400" spc="-5" dirty="0">
                <a:solidFill>
                  <a:srgbClr val="404040"/>
                </a:solidFill>
                <a:latin typeface="맑은 고딕"/>
                <a:cs typeface="맑은 고딕"/>
              </a:rPr>
              <a:t>임에도</a:t>
            </a:r>
            <a:r>
              <a:rPr sz="1400" spc="-18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불구하고</a:t>
            </a:r>
            <a:r>
              <a:rPr sz="1400" spc="-204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객체의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멤버를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spc="0" dirty="0">
                <a:solidFill>
                  <a:srgbClr val="404040"/>
                </a:solidFill>
                <a:latin typeface="맑은 고딕"/>
                <a:cs typeface="맑은 고딕"/>
              </a:rPr>
              <a:t>참조하려는</a:t>
            </a:r>
            <a:r>
              <a:rPr sz="1400" spc="-204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경우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발생</a:t>
            </a:r>
            <a:endParaRPr sz="1400" dirty="0">
              <a:latin typeface="맑은 고딕"/>
              <a:cs typeface="맑은 고딕"/>
            </a:endParaRPr>
          </a:p>
          <a:p>
            <a:pPr marL="304800" indent="-182880">
              <a:lnSpc>
                <a:spcPct val="100000"/>
              </a:lnSpc>
              <a:spcBef>
                <a:spcPts val="150"/>
              </a:spcBef>
              <a:buClr>
                <a:srgbClr val="E38312"/>
              </a:buClr>
              <a:buChar char="◦"/>
              <a:tabLst>
                <a:tab pos="305435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ArrayIndexOutOfBoundsException</a:t>
            </a:r>
            <a:endParaRPr sz="1800" dirty="0">
              <a:latin typeface="Calibri"/>
              <a:cs typeface="Calibri"/>
            </a:endParaRPr>
          </a:p>
          <a:p>
            <a:pPr marL="487680" lvl="1" indent="-182880">
              <a:lnSpc>
                <a:spcPct val="100000"/>
              </a:lnSpc>
              <a:spcBef>
                <a:spcPts val="280"/>
              </a:spcBef>
              <a:buClr>
                <a:srgbClr val="E38312"/>
              </a:buClr>
              <a:buFont typeface="Calibri"/>
              <a:buChar char="◦"/>
              <a:tabLst>
                <a:tab pos="48831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배열에서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배열의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첨자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범위를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벗어난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첨자</a:t>
            </a:r>
            <a:r>
              <a:rPr sz="1400" spc="-18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사용</a:t>
            </a:r>
            <a:endParaRPr sz="1400" dirty="0">
              <a:latin typeface="맑은 고딕"/>
              <a:cs typeface="맑은 고딕"/>
            </a:endParaRPr>
          </a:p>
          <a:p>
            <a:pPr marL="304800" indent="-182880">
              <a:lnSpc>
                <a:spcPct val="100000"/>
              </a:lnSpc>
              <a:spcBef>
                <a:spcPts val="155"/>
              </a:spcBef>
              <a:buClr>
                <a:srgbClr val="E38312"/>
              </a:buClr>
              <a:buChar char="◦"/>
              <a:tabLst>
                <a:tab pos="305435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ArithmeticException,</a:t>
            </a:r>
            <a:endParaRPr sz="1800" dirty="0">
              <a:latin typeface="Calibri"/>
              <a:cs typeface="Calibri"/>
            </a:endParaRPr>
          </a:p>
          <a:p>
            <a:pPr marL="487680" lvl="1" indent="-182880">
              <a:lnSpc>
                <a:spcPct val="100000"/>
              </a:lnSpc>
              <a:spcBef>
                <a:spcPts val="280"/>
              </a:spcBef>
              <a:buClr>
                <a:srgbClr val="E38312"/>
              </a:buClr>
              <a:buChar char="◦"/>
              <a:tabLst>
                <a:tab pos="488315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0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으로</a:t>
            </a:r>
            <a:r>
              <a:rPr sz="1400" spc="-19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수를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나누려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할</a:t>
            </a:r>
            <a:r>
              <a:rPr sz="1400" spc="-19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때</a:t>
            </a:r>
            <a:r>
              <a:rPr sz="1400" spc="-19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발생</a:t>
            </a:r>
            <a:endParaRPr sz="1400" dirty="0">
              <a:latin typeface="맑은 고딕"/>
              <a:cs typeface="맑은 고딕"/>
            </a:endParaRPr>
          </a:p>
          <a:p>
            <a:pPr marL="304800" indent="-182880">
              <a:lnSpc>
                <a:spcPct val="100000"/>
              </a:lnSpc>
              <a:spcBef>
                <a:spcPts val="155"/>
              </a:spcBef>
              <a:buClr>
                <a:srgbClr val="E38312"/>
              </a:buClr>
              <a:buChar char="◦"/>
              <a:tabLst>
                <a:tab pos="305435" algn="l"/>
              </a:tabLst>
            </a:pP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ArrayStoreException</a:t>
            </a:r>
            <a:endParaRPr sz="1800" dirty="0">
              <a:latin typeface="Calibri"/>
              <a:cs typeface="Calibri"/>
            </a:endParaRPr>
          </a:p>
          <a:p>
            <a:pPr marL="487680" lvl="1" indent="-182880">
              <a:lnSpc>
                <a:spcPct val="100000"/>
              </a:lnSpc>
              <a:spcBef>
                <a:spcPts val="280"/>
              </a:spcBef>
              <a:buClr>
                <a:srgbClr val="E38312"/>
              </a:buClr>
              <a:buFont typeface="Calibri"/>
              <a:buChar char="◦"/>
              <a:tabLst>
                <a:tab pos="48831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배열에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잘못된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유형의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객체를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저장하려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할</a:t>
            </a:r>
            <a:r>
              <a:rPr sz="1400" spc="-18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때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발생</a:t>
            </a:r>
            <a:endParaRPr sz="1400" dirty="0">
              <a:latin typeface="맑은 고딕"/>
              <a:cs typeface="맑은 고딕"/>
            </a:endParaRPr>
          </a:p>
          <a:p>
            <a:pPr marL="304800" indent="-182880">
              <a:lnSpc>
                <a:spcPct val="100000"/>
              </a:lnSpc>
              <a:spcBef>
                <a:spcPts val="150"/>
              </a:spcBef>
              <a:buClr>
                <a:srgbClr val="E38312"/>
              </a:buClr>
              <a:buChar char="◦"/>
              <a:tabLst>
                <a:tab pos="305435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ClassCastException</a:t>
            </a:r>
            <a:endParaRPr sz="1800" dirty="0">
              <a:latin typeface="Calibri"/>
              <a:cs typeface="Calibri"/>
            </a:endParaRPr>
          </a:p>
          <a:p>
            <a:pPr marL="487680" lvl="1" indent="-182880">
              <a:lnSpc>
                <a:spcPct val="100000"/>
              </a:lnSpc>
              <a:spcBef>
                <a:spcPts val="280"/>
              </a:spcBef>
              <a:buClr>
                <a:srgbClr val="E38312"/>
              </a:buClr>
              <a:buFont typeface="Calibri"/>
              <a:buChar char="◦"/>
              <a:tabLst>
                <a:tab pos="48831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객체를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변환할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수</a:t>
            </a:r>
            <a:r>
              <a:rPr sz="1400" spc="-18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없는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유형으로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변환하려고</a:t>
            </a:r>
            <a:r>
              <a:rPr sz="1400" spc="-21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할</a:t>
            </a:r>
            <a:r>
              <a:rPr sz="1400" spc="-19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때</a:t>
            </a:r>
            <a:r>
              <a:rPr sz="1400" spc="-19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발생</a:t>
            </a:r>
            <a:endParaRPr sz="1400" dirty="0">
              <a:latin typeface="맑은 고딕"/>
              <a:cs typeface="맑은 고딕"/>
            </a:endParaRPr>
          </a:p>
          <a:p>
            <a:pPr marL="304800" indent="-182880">
              <a:lnSpc>
                <a:spcPct val="100000"/>
              </a:lnSpc>
              <a:spcBef>
                <a:spcPts val="155"/>
              </a:spcBef>
              <a:buClr>
                <a:srgbClr val="E38312"/>
              </a:buClr>
              <a:buChar char="◦"/>
              <a:tabLst>
                <a:tab pos="305435" algn="l"/>
              </a:tabLst>
            </a:pP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NegativeArraySizeException</a:t>
            </a:r>
            <a:endParaRPr sz="1800" dirty="0">
              <a:latin typeface="Calibri"/>
              <a:cs typeface="Calibri"/>
            </a:endParaRPr>
          </a:p>
          <a:p>
            <a:pPr marL="487680" lvl="1" indent="-182880">
              <a:lnSpc>
                <a:spcPct val="100000"/>
              </a:lnSpc>
              <a:spcBef>
                <a:spcPts val="280"/>
              </a:spcBef>
              <a:buClr>
                <a:srgbClr val="E38312"/>
              </a:buClr>
              <a:buFont typeface="Calibri"/>
              <a:buChar char="◦"/>
              <a:tabLst>
                <a:tab pos="48831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배열의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크기를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음수로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지정하는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경우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발생</a:t>
            </a:r>
            <a:endParaRPr sz="1400" dirty="0">
              <a:latin typeface="맑은 고딕"/>
              <a:cs typeface="맑은 고딕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96940" y="153873"/>
            <a:ext cx="2469641" cy="2614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3980">
              <a:lnSpc>
                <a:spcPts val="1105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C8F99D8-6054-408F-8787-897E82D74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412" y="1559434"/>
            <a:ext cx="5591175" cy="40290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0E00599-FF86-438B-A3E5-137A2CDDB6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098" y="2931387"/>
            <a:ext cx="6781801" cy="8862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FF1F2BD-EC09-443E-BBB2-99D72EE8B1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40" y="1628457"/>
            <a:ext cx="7905750" cy="36195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E3D4D74-4876-4C3C-9B70-FFDD6ECA83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3729" y="3052254"/>
            <a:ext cx="4515371" cy="102859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A86C153-BBE4-4803-8080-9D30A68F82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5422" y="3113913"/>
            <a:ext cx="3790089" cy="103366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81010FE-6C05-477C-A532-E4381F735F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5757" y="2700044"/>
            <a:ext cx="5783593" cy="134894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2F6E9EE-F517-4E3F-B6D9-77F94BA450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8495" y="5851717"/>
            <a:ext cx="5509925" cy="6406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0" y="67055"/>
                </a:moveTo>
                <a:lnTo>
                  <a:pt x="9144000" y="67055"/>
                </a:lnTo>
                <a:lnTo>
                  <a:pt x="9144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5152" y="1269491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2004" y="501218"/>
            <a:ext cx="38080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예외처리</a:t>
            </a:r>
            <a:r>
              <a:rPr spc="-635" dirty="0"/>
              <a:t> </a:t>
            </a:r>
            <a:r>
              <a:rPr spc="-30" dirty="0"/>
              <a:t>구문</a:t>
            </a:r>
            <a:r>
              <a:rPr spc="-645" dirty="0"/>
              <a:t> </a:t>
            </a:r>
            <a:r>
              <a:rPr b="0" spc="-30" dirty="0">
                <a:latin typeface="Calibri Light"/>
                <a:cs typeface="Calibri Light"/>
              </a:rPr>
              <a:t>try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2406" y="1231593"/>
            <a:ext cx="7473315" cy="221742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000" spc="-10" dirty="0">
                <a:solidFill>
                  <a:srgbClr val="404040"/>
                </a:solidFill>
                <a:latin typeface="맑은 고딕"/>
                <a:cs typeface="맑은 고딕"/>
              </a:rPr>
              <a:t>예외처리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(exception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handling)</a:t>
            </a:r>
            <a:endParaRPr sz="2000" dirty="0">
              <a:latin typeface="Calibri"/>
              <a:cs typeface="Calibri"/>
            </a:endParaRPr>
          </a:p>
          <a:p>
            <a:pPr marL="304800" marR="5080" indent="-182880">
              <a:lnSpc>
                <a:spcPts val="1939"/>
              </a:lnSpc>
              <a:spcBef>
                <a:spcPts val="434"/>
              </a:spcBef>
              <a:buClr>
                <a:srgbClr val="E38312"/>
              </a:buClr>
              <a:buFont typeface="Calibri"/>
              <a:buChar char="◦"/>
              <a:tabLst>
                <a:tab pos="305435" algn="l"/>
              </a:tabLst>
            </a:pP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실행</a:t>
            </a:r>
            <a:r>
              <a:rPr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중에</a:t>
            </a:r>
            <a:r>
              <a:rPr sz="1800" spc="-22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여러</a:t>
            </a:r>
            <a:r>
              <a:rPr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이유로</a:t>
            </a:r>
            <a:r>
              <a:rPr sz="1800" spc="-22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예상하지</a:t>
            </a:r>
            <a:r>
              <a:rPr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못했던</a:t>
            </a:r>
            <a:r>
              <a:rPr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문제가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발생한</a:t>
            </a:r>
            <a:r>
              <a:rPr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경우</a:t>
            </a:r>
            <a:r>
              <a:rPr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이를</a:t>
            </a:r>
            <a:r>
              <a:rPr sz="1800" spc="-22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적절히  처리하는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모듈</a:t>
            </a:r>
            <a:endParaRPr sz="18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예외처리</a:t>
            </a:r>
            <a:r>
              <a:rPr sz="2000" spc="-27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모듈</a:t>
            </a:r>
            <a:endParaRPr sz="2000" dirty="0">
              <a:latin typeface="맑은 고딕"/>
              <a:cs typeface="맑은 고딕"/>
            </a:endParaRPr>
          </a:p>
          <a:p>
            <a:pPr marL="304800" indent="-182880">
              <a:lnSpc>
                <a:spcPct val="100000"/>
              </a:lnSpc>
              <a:spcBef>
                <a:spcPts val="200"/>
              </a:spcBef>
              <a:buClr>
                <a:srgbClr val="E38312"/>
              </a:buClr>
              <a:buChar char="◦"/>
              <a:tabLst>
                <a:tab pos="305435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try ~ 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catch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~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finally</a:t>
            </a:r>
            <a:r>
              <a:rPr sz="18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문장</a:t>
            </a:r>
            <a:endParaRPr sz="1800" dirty="0">
              <a:latin typeface="맑은 고딕"/>
              <a:cs typeface="맑은 고딕"/>
            </a:endParaRPr>
          </a:p>
          <a:p>
            <a:pPr marL="487680" lvl="1" indent="-182880">
              <a:lnSpc>
                <a:spcPct val="100000"/>
              </a:lnSpc>
              <a:spcBef>
                <a:spcPts val="445"/>
              </a:spcBef>
              <a:buClr>
                <a:srgbClr val="E38312"/>
              </a:buClr>
              <a:buFont typeface="Calibri"/>
              <a:buChar char="◦"/>
              <a:tabLst>
                <a:tab pos="48831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예외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발생과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상관없이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finally</a:t>
            </a:r>
            <a:r>
              <a:rPr sz="1400" spc="-5" dirty="0">
                <a:solidFill>
                  <a:srgbClr val="404040"/>
                </a:solidFill>
                <a:latin typeface="맑은 고딕"/>
                <a:cs typeface="맑은 고딕"/>
              </a:rPr>
              <a:t>의</a:t>
            </a:r>
            <a:r>
              <a:rPr sz="1400" spc="-18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블록은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실행</a:t>
            </a:r>
            <a:endParaRPr sz="1400" dirty="0">
              <a:latin typeface="맑은 고딕"/>
              <a:cs typeface="맑은 고딕"/>
            </a:endParaRPr>
          </a:p>
          <a:p>
            <a:pPr marL="487680" lvl="1" indent="-182880">
              <a:lnSpc>
                <a:spcPct val="100000"/>
              </a:lnSpc>
              <a:spcBef>
                <a:spcPts val="434"/>
              </a:spcBef>
              <a:buClr>
                <a:srgbClr val="E38312"/>
              </a:buClr>
              <a:buChar char="◦"/>
              <a:tabLst>
                <a:tab pos="488315" algn="l"/>
              </a:tabLst>
            </a:pP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catch</a:t>
            </a:r>
            <a:r>
              <a:rPr sz="1400" spc="-10" dirty="0">
                <a:solidFill>
                  <a:srgbClr val="404040"/>
                </a:solidFill>
                <a:latin typeface="맑은 고딕"/>
                <a:cs typeface="맑은 고딕"/>
              </a:rPr>
              <a:t>와</a:t>
            </a:r>
            <a:r>
              <a:rPr sz="1400" spc="-19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finally</a:t>
            </a:r>
            <a:r>
              <a:rPr sz="1400" spc="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둘</a:t>
            </a:r>
            <a:r>
              <a:rPr sz="1400" spc="-19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중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하나는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옵션</a:t>
            </a:r>
            <a:endParaRPr sz="1400" dirty="0">
              <a:latin typeface="맑은 고딕"/>
              <a:cs typeface="맑은 고딕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96940" y="153873"/>
            <a:ext cx="2474214" cy="2614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5275" y="3377135"/>
            <a:ext cx="7347204" cy="34808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60347" y="3572255"/>
            <a:ext cx="6777228" cy="29321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3980">
              <a:lnSpc>
                <a:spcPts val="1105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0" y="67055"/>
                </a:moveTo>
                <a:lnTo>
                  <a:pt x="9144000" y="67055"/>
                </a:lnTo>
                <a:lnTo>
                  <a:pt x="9144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5152" y="1269491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2004" y="501218"/>
            <a:ext cx="203136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실습예제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542" y="1225151"/>
            <a:ext cx="4580255" cy="93408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8-3</a:t>
            </a:r>
            <a:endParaRPr sz="2000">
              <a:latin typeface="Calibri"/>
              <a:cs typeface="Calibri"/>
            </a:endParaRPr>
          </a:p>
          <a:p>
            <a:pPr marL="304800" indent="-182880">
              <a:lnSpc>
                <a:spcPct val="100000"/>
              </a:lnSpc>
              <a:spcBef>
                <a:spcPts val="210"/>
              </a:spcBef>
              <a:buClr>
                <a:srgbClr val="E38312"/>
              </a:buClr>
              <a:buChar char="◦"/>
              <a:tabLst>
                <a:tab pos="305435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try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내부에서 예외가</a:t>
            </a:r>
            <a:r>
              <a:rPr sz="1800" spc="-45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발생하면</a:t>
            </a:r>
            <a:endParaRPr sz="1800">
              <a:latin typeface="맑은 고딕"/>
              <a:cs typeface="맑은 고딕"/>
            </a:endParaRPr>
          </a:p>
          <a:p>
            <a:pPr marL="487680" lvl="1" indent="-182880">
              <a:lnSpc>
                <a:spcPct val="100000"/>
              </a:lnSpc>
              <a:spcBef>
                <a:spcPts val="459"/>
              </a:spcBef>
              <a:buClr>
                <a:srgbClr val="E38312"/>
              </a:buClr>
              <a:buFont typeface="Calibri"/>
              <a:buChar char="◦"/>
              <a:tabLst>
                <a:tab pos="48831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더</a:t>
            </a:r>
            <a:r>
              <a:rPr sz="1400" spc="-19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이상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try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블록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내부의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나머지</a:t>
            </a:r>
            <a:r>
              <a:rPr sz="1400" spc="-19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문장은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실행하지</a:t>
            </a:r>
            <a:r>
              <a:rPr sz="1400" spc="-21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않음</a:t>
            </a:r>
            <a:endParaRPr sz="1400">
              <a:latin typeface="맑은 고딕"/>
              <a:cs typeface="맑은 고딕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96940" y="153873"/>
            <a:ext cx="2469641" cy="2614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48383" y="2182367"/>
            <a:ext cx="6623304" cy="44226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3980">
              <a:lnSpc>
                <a:spcPts val="1105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0" y="67055"/>
                </a:moveTo>
                <a:lnTo>
                  <a:pt x="9144000" y="67055"/>
                </a:lnTo>
                <a:lnTo>
                  <a:pt x="9144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5152" y="1269491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2004" y="501218"/>
            <a:ext cx="33026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70" dirty="0">
                <a:latin typeface="Calibri Light"/>
                <a:cs typeface="Calibri Light"/>
              </a:rPr>
              <a:t>catch </a:t>
            </a:r>
            <a:r>
              <a:rPr spc="-30" dirty="0"/>
              <a:t>처리</a:t>
            </a:r>
            <a:r>
              <a:rPr spc="-710" dirty="0"/>
              <a:t> </a:t>
            </a:r>
            <a:r>
              <a:rPr spc="-60" dirty="0"/>
              <a:t>순서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741" y="1303035"/>
            <a:ext cx="8122284" cy="305054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여러</a:t>
            </a:r>
            <a:r>
              <a:rPr sz="2000" spc="-27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개의</a:t>
            </a:r>
            <a:r>
              <a:rPr sz="2000" spc="-26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catch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문을</a:t>
            </a:r>
            <a:r>
              <a:rPr sz="2000" spc="-27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이용하는</a:t>
            </a:r>
            <a:r>
              <a:rPr sz="2000" spc="-28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경우</a:t>
            </a:r>
            <a:endParaRPr sz="2000" dirty="0">
              <a:latin typeface="맑은 고딕"/>
              <a:cs typeface="맑은 고딕"/>
            </a:endParaRPr>
          </a:p>
          <a:p>
            <a:pPr marL="304800" indent="-182880">
              <a:lnSpc>
                <a:spcPct val="100000"/>
              </a:lnSpc>
              <a:spcBef>
                <a:spcPts val="190"/>
              </a:spcBef>
              <a:buClr>
                <a:srgbClr val="E38312"/>
              </a:buClr>
              <a:buFont typeface="Calibri"/>
              <a:buChar char="◦"/>
              <a:tabLst>
                <a:tab pos="305435" algn="l"/>
              </a:tabLst>
            </a:pP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프로그램이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실행되는</a:t>
            </a:r>
            <a:r>
              <a:rPr sz="1800" spc="-22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순간에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예외가</a:t>
            </a:r>
            <a:r>
              <a:rPr sz="1800" spc="-22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발생하면</a:t>
            </a:r>
            <a:endParaRPr sz="1800" dirty="0">
              <a:latin typeface="맑은 고딕"/>
              <a:cs typeface="맑은 고딕"/>
            </a:endParaRPr>
          </a:p>
          <a:p>
            <a:pPr marL="304800" marR="5080" indent="-182880">
              <a:lnSpc>
                <a:spcPts val="1939"/>
              </a:lnSpc>
              <a:spcBef>
                <a:spcPts val="635"/>
              </a:spcBef>
              <a:buClr>
                <a:srgbClr val="E38312"/>
              </a:buClr>
              <a:buFont typeface="Calibri"/>
              <a:buChar char="◦"/>
              <a:tabLst>
                <a:tab pos="305435" algn="l"/>
              </a:tabLst>
            </a:pP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여러</a:t>
            </a:r>
            <a:r>
              <a:rPr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개의</a:t>
            </a:r>
            <a:r>
              <a:rPr sz="1800" spc="-22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catch</a:t>
            </a:r>
            <a:r>
              <a:rPr sz="1800" spc="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문</a:t>
            </a:r>
            <a:r>
              <a:rPr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중에서</a:t>
            </a:r>
            <a:r>
              <a:rPr sz="1800" spc="-22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위에서부터</a:t>
            </a:r>
            <a:r>
              <a:rPr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순차적으로</a:t>
            </a:r>
            <a:r>
              <a:rPr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catch(ExceptionType</a:t>
            </a:r>
            <a:r>
              <a:rPr sz="1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var)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문에  서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ExceptionType</a:t>
            </a:r>
            <a:r>
              <a:rPr sz="1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인자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유형을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검사</a:t>
            </a:r>
            <a:endParaRPr sz="1800" dirty="0">
              <a:latin typeface="맑은 고딕"/>
              <a:cs typeface="맑은 고딕"/>
            </a:endParaRPr>
          </a:p>
          <a:p>
            <a:pPr marL="487680" lvl="1" indent="-182880">
              <a:lnSpc>
                <a:spcPct val="100000"/>
              </a:lnSpc>
              <a:spcBef>
                <a:spcPts val="434"/>
              </a:spcBef>
              <a:buClr>
                <a:srgbClr val="E38312"/>
              </a:buClr>
              <a:buFont typeface="Calibri"/>
              <a:buChar char="◦"/>
              <a:tabLst>
                <a:tab pos="48831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발생된</a:t>
            </a:r>
            <a:r>
              <a:rPr sz="1400" spc="-19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예외의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유형과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일치하거나</a:t>
            </a:r>
            <a:r>
              <a:rPr sz="1400" spc="-19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하위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클래스이면</a:t>
            </a:r>
            <a:r>
              <a:rPr sz="1400" spc="-204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먼저</a:t>
            </a:r>
            <a:r>
              <a:rPr sz="1400" spc="-18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만나는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catch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문</a:t>
            </a:r>
            <a:r>
              <a:rPr sz="1400" spc="-18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블록만을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실행</a:t>
            </a:r>
            <a:endParaRPr sz="1400" dirty="0">
              <a:latin typeface="맑은 고딕"/>
              <a:cs typeface="맑은 고딕"/>
            </a:endParaRPr>
          </a:p>
          <a:p>
            <a:pPr marL="304800" indent="-182880">
              <a:lnSpc>
                <a:spcPct val="100000"/>
              </a:lnSpc>
              <a:spcBef>
                <a:spcPts val="359"/>
              </a:spcBef>
              <a:buClr>
                <a:srgbClr val="E38312"/>
              </a:buClr>
              <a:buFont typeface="Calibri"/>
              <a:buChar char="◦"/>
              <a:tabLst>
                <a:tab pos="305435" algn="l"/>
              </a:tabLst>
            </a:pP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주의할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점</a:t>
            </a:r>
            <a:endParaRPr sz="1800" dirty="0">
              <a:latin typeface="맑은 고딕"/>
              <a:cs typeface="맑은 고딕"/>
            </a:endParaRPr>
          </a:p>
          <a:p>
            <a:pPr marL="487680" marR="6274435" lvl="1" indent="-182880">
              <a:lnSpc>
                <a:spcPct val="90000"/>
              </a:lnSpc>
              <a:spcBef>
                <a:spcPts val="625"/>
              </a:spcBef>
              <a:buClr>
                <a:srgbClr val="E38312"/>
              </a:buClr>
              <a:buFont typeface="Calibri"/>
              <a:buChar char="◦"/>
              <a:tabLst>
                <a:tab pos="48831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여러 개의 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catch 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구문에 기술하는 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ExceptionType</a:t>
            </a:r>
            <a:r>
              <a:rPr sz="1400" spc="-10" dirty="0">
                <a:solidFill>
                  <a:srgbClr val="404040"/>
                </a:solidFill>
                <a:latin typeface="맑은 고딕"/>
                <a:cs typeface="맑은 고딕"/>
              </a:rPr>
              <a:t>이 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하위 클래스인  것부터</a:t>
            </a:r>
            <a:r>
              <a:rPr sz="1400" spc="-22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먼저</a:t>
            </a:r>
            <a:r>
              <a:rPr sz="1400" spc="-22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catch 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블록을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기술</a:t>
            </a:r>
            <a:endParaRPr sz="1400" dirty="0">
              <a:latin typeface="맑은 고딕"/>
              <a:cs typeface="맑은 고딕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96940" y="153873"/>
            <a:ext cx="2472690" cy="2614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61716" y="2778272"/>
            <a:ext cx="6082283" cy="40370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56788" y="2973323"/>
            <a:ext cx="5637275" cy="34671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3980">
              <a:lnSpc>
                <a:spcPts val="1105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8B94BEFC-9445-4815-A340-B6DE2F3045A7}"/>
              </a:ext>
            </a:extLst>
          </p:cNvPr>
          <p:cNvSpPr/>
          <p:nvPr/>
        </p:nvSpPr>
        <p:spPr>
          <a:xfrm>
            <a:off x="674371" y="2022752"/>
            <a:ext cx="7795259" cy="31683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0" y="67055"/>
                </a:moveTo>
                <a:lnTo>
                  <a:pt x="9144000" y="67055"/>
                </a:lnTo>
                <a:lnTo>
                  <a:pt x="9144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5152" y="1269491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2004" y="501218"/>
            <a:ext cx="53663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40" dirty="0"/>
              <a:t>비</a:t>
            </a:r>
            <a:r>
              <a:rPr spc="-40" dirty="0" err="1"/>
              <a:t>체크</a:t>
            </a:r>
            <a:r>
              <a:rPr spc="-640" dirty="0"/>
              <a:t> </a:t>
            </a:r>
            <a:r>
              <a:rPr spc="-35" dirty="0"/>
              <a:t>예외와</a:t>
            </a:r>
            <a:r>
              <a:rPr spc="-625" dirty="0"/>
              <a:t> </a:t>
            </a:r>
            <a:r>
              <a:rPr spc="-30" dirty="0"/>
              <a:t>체크</a:t>
            </a:r>
            <a:r>
              <a:rPr spc="-640" dirty="0"/>
              <a:t> </a:t>
            </a:r>
            <a:r>
              <a:rPr spc="-60" dirty="0"/>
              <a:t>예외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2004" y="1379235"/>
            <a:ext cx="7429500" cy="355981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비체크 </a:t>
            </a:r>
            <a:r>
              <a:rPr sz="2000" spc="-5" dirty="0">
                <a:solidFill>
                  <a:srgbClr val="404040"/>
                </a:solidFill>
                <a:latin typeface="맑은 고딕"/>
                <a:cs typeface="맑은 고딕"/>
              </a:rPr>
              <a:t>예외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(unchecked</a:t>
            </a:r>
            <a:r>
              <a:rPr sz="2000" spc="-3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exception)</a:t>
            </a:r>
            <a:endParaRPr sz="2000" dirty="0">
              <a:latin typeface="Calibri"/>
              <a:cs typeface="Calibri"/>
            </a:endParaRPr>
          </a:p>
          <a:p>
            <a:pPr marL="304800" marR="5080" indent="-182880">
              <a:lnSpc>
                <a:spcPts val="1939"/>
              </a:lnSpc>
              <a:spcBef>
                <a:spcPts val="440"/>
              </a:spcBef>
              <a:buClr>
                <a:srgbClr val="E38312"/>
              </a:buClr>
              <a:buChar char="◦"/>
              <a:tabLst>
                <a:tab pos="305435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RuntimeException</a:t>
            </a:r>
            <a:r>
              <a:rPr sz="1800" spc="-10" dirty="0">
                <a:solidFill>
                  <a:srgbClr val="404040"/>
                </a:solidFill>
                <a:latin typeface="맑은 고딕"/>
                <a:cs typeface="맑은 고딕"/>
              </a:rPr>
              <a:t>과</a:t>
            </a:r>
            <a:r>
              <a:rPr sz="1800" spc="-21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그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하부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예외가</a:t>
            </a:r>
            <a:r>
              <a:rPr sz="1800" spc="-22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발생할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가능성이</a:t>
            </a:r>
            <a:r>
              <a:rPr sz="1800" spc="-22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있는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코드들은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try ~  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catch</a:t>
            </a:r>
            <a:r>
              <a:rPr sz="1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문이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맑은 고딕"/>
                <a:cs typeface="맑은 고딕"/>
              </a:rPr>
              <a:t>선택적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sz="1800" spc="-5" dirty="0">
                <a:solidFill>
                  <a:srgbClr val="404040"/>
                </a:solidFill>
                <a:latin typeface="맑은 고딕"/>
                <a:cs typeface="맑은 고딕"/>
              </a:rPr>
              <a:t>프로그래머가</a:t>
            </a:r>
            <a:r>
              <a:rPr sz="1800" spc="-21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신경써서</a:t>
            </a:r>
            <a:r>
              <a:rPr sz="1800" spc="-24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코딩하면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해결될</a:t>
            </a:r>
            <a:r>
              <a:rPr sz="1800" spc="-22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문제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  <a:p>
            <a:pPr marL="487680" lvl="1" indent="-182880">
              <a:lnSpc>
                <a:spcPct val="100000"/>
              </a:lnSpc>
              <a:spcBef>
                <a:spcPts val="425"/>
              </a:spcBef>
              <a:buClr>
                <a:srgbClr val="E38312"/>
              </a:buClr>
              <a:buChar char="◦"/>
              <a:tabLst>
                <a:tab pos="488315" algn="l"/>
              </a:tabLst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RuntimeException, ArithmeticException,</a:t>
            </a:r>
            <a:r>
              <a:rPr sz="14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NullPointerException</a:t>
            </a:r>
            <a:endParaRPr sz="1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E38312"/>
              </a:buClr>
              <a:buFont typeface="Calibri"/>
              <a:buChar char="◦"/>
            </a:pPr>
            <a:endParaRPr sz="1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체크 </a:t>
            </a:r>
            <a:r>
              <a:rPr sz="2000" spc="-10" dirty="0">
                <a:solidFill>
                  <a:srgbClr val="404040"/>
                </a:solidFill>
                <a:latin typeface="맑은 고딕"/>
                <a:cs typeface="맑은 고딕"/>
              </a:rPr>
              <a:t>예외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(checked</a:t>
            </a:r>
            <a:r>
              <a:rPr sz="2000" spc="-2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exception)</a:t>
            </a:r>
            <a:endParaRPr sz="2000" dirty="0">
              <a:latin typeface="Calibri"/>
              <a:cs typeface="Calibri"/>
            </a:endParaRPr>
          </a:p>
          <a:p>
            <a:pPr marL="304800" indent="-182880">
              <a:lnSpc>
                <a:spcPct val="100000"/>
              </a:lnSpc>
              <a:spcBef>
                <a:spcPts val="200"/>
              </a:spcBef>
              <a:buClr>
                <a:srgbClr val="E38312"/>
              </a:buClr>
              <a:buFont typeface="Calibri"/>
              <a:buChar char="◦"/>
              <a:tabLst>
                <a:tab pos="305435" algn="l"/>
              </a:tabLst>
            </a:pP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예외</a:t>
            </a:r>
            <a:r>
              <a:rPr sz="1800" spc="-23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중에서</a:t>
            </a:r>
            <a:r>
              <a:rPr sz="1800" spc="-22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RuntimeException</a:t>
            </a:r>
            <a:r>
              <a:rPr sz="1800" spc="-10" dirty="0">
                <a:solidFill>
                  <a:srgbClr val="404040"/>
                </a:solidFill>
                <a:latin typeface="맑은 고딕"/>
                <a:cs typeface="맑은 고딕"/>
              </a:rPr>
              <a:t>과</a:t>
            </a:r>
            <a:r>
              <a:rPr sz="1800" spc="-22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그</a:t>
            </a:r>
            <a:r>
              <a:rPr sz="1800" spc="-22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하부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예외를</a:t>
            </a:r>
            <a:r>
              <a:rPr sz="1800" spc="-22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제외한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모든</a:t>
            </a:r>
            <a:r>
              <a:rPr sz="1800" spc="-229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404040"/>
                </a:solidFill>
                <a:latin typeface="맑은 고딕"/>
                <a:cs typeface="맑은 고딕"/>
              </a:rPr>
              <a:t>예외</a:t>
            </a:r>
            <a:endParaRPr sz="1800" dirty="0">
              <a:latin typeface="맑은 고딕"/>
              <a:cs typeface="맑은 고딕"/>
            </a:endParaRPr>
          </a:p>
          <a:p>
            <a:pPr marL="487680" lvl="1" indent="-182880">
              <a:lnSpc>
                <a:spcPct val="100000"/>
              </a:lnSpc>
              <a:spcBef>
                <a:spcPts val="434"/>
              </a:spcBef>
              <a:buClr>
                <a:srgbClr val="E38312"/>
              </a:buClr>
              <a:buChar char="◦"/>
              <a:tabLst>
                <a:tab pos="488315" algn="l"/>
              </a:tabLst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FileNotFoundException</a:t>
            </a:r>
            <a:endParaRPr sz="1400" dirty="0">
              <a:latin typeface="Calibri"/>
              <a:cs typeface="Calibri"/>
            </a:endParaRPr>
          </a:p>
          <a:p>
            <a:pPr marL="670560" lvl="2" indent="-182880">
              <a:lnSpc>
                <a:spcPct val="100000"/>
              </a:lnSpc>
              <a:spcBef>
                <a:spcPts val="445"/>
              </a:spcBef>
              <a:buClr>
                <a:srgbClr val="E38312"/>
              </a:buClr>
              <a:buFont typeface="Calibri"/>
              <a:buChar char="◦"/>
              <a:tabLst>
                <a:tab pos="67119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존재하지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않는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파일을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처리</a:t>
            </a:r>
            <a:endParaRPr sz="1400" dirty="0">
              <a:latin typeface="맑은 고딕"/>
              <a:cs typeface="맑은 고딕"/>
            </a:endParaRPr>
          </a:p>
          <a:p>
            <a:pPr marL="487680" lvl="1" indent="-182880">
              <a:lnSpc>
                <a:spcPct val="100000"/>
              </a:lnSpc>
              <a:spcBef>
                <a:spcPts val="420"/>
              </a:spcBef>
              <a:buClr>
                <a:srgbClr val="E38312"/>
              </a:buClr>
              <a:buChar char="◦"/>
              <a:tabLst>
                <a:tab pos="488315" algn="l"/>
              </a:tabLst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ClassNotFoundException</a:t>
            </a:r>
            <a:endParaRPr sz="1400" dirty="0">
              <a:latin typeface="Calibri"/>
              <a:cs typeface="Calibri"/>
            </a:endParaRPr>
          </a:p>
          <a:p>
            <a:pPr marL="670560" lvl="2" indent="-182880">
              <a:lnSpc>
                <a:spcPct val="100000"/>
              </a:lnSpc>
              <a:spcBef>
                <a:spcPts val="450"/>
              </a:spcBef>
              <a:buClr>
                <a:srgbClr val="E38312"/>
              </a:buClr>
              <a:buFont typeface="Calibri"/>
              <a:buChar char="◦"/>
              <a:tabLst>
                <a:tab pos="67119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사용하려는</a:t>
            </a:r>
            <a:r>
              <a:rPr sz="1400" spc="-21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클래스의</a:t>
            </a:r>
            <a:r>
              <a:rPr sz="1400" spc="-204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이름을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잘못</a:t>
            </a:r>
            <a:r>
              <a:rPr sz="1400" spc="-19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기술</a:t>
            </a:r>
            <a:endParaRPr sz="1400" dirty="0">
              <a:latin typeface="맑은 고딕"/>
              <a:cs typeface="맑은 고딕"/>
            </a:endParaRPr>
          </a:p>
          <a:p>
            <a:pPr marL="487680" lvl="1" indent="-182880">
              <a:lnSpc>
                <a:spcPct val="100000"/>
              </a:lnSpc>
              <a:spcBef>
                <a:spcPts val="420"/>
              </a:spcBef>
              <a:buClr>
                <a:srgbClr val="E38312"/>
              </a:buClr>
              <a:buChar char="◦"/>
              <a:tabLst>
                <a:tab pos="488315" algn="l"/>
              </a:tabLst>
            </a:pP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DataFormatException</a:t>
            </a:r>
            <a:endParaRPr sz="1400" dirty="0">
              <a:latin typeface="Calibri"/>
              <a:cs typeface="Calibri"/>
            </a:endParaRPr>
          </a:p>
          <a:p>
            <a:pPr marL="670560" lvl="2" indent="-182880">
              <a:lnSpc>
                <a:spcPct val="100000"/>
              </a:lnSpc>
              <a:spcBef>
                <a:spcPts val="440"/>
              </a:spcBef>
              <a:buClr>
                <a:srgbClr val="E38312"/>
              </a:buClr>
              <a:buFont typeface="Calibri"/>
              <a:buChar char="◦"/>
              <a:tabLst>
                <a:tab pos="671195" algn="l"/>
              </a:tabLst>
            </a:pP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입력한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데이터의</a:t>
            </a:r>
            <a:r>
              <a:rPr sz="1400" spc="-19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형식이</a:t>
            </a:r>
            <a:r>
              <a:rPr sz="1400" spc="-200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404040"/>
                </a:solidFill>
                <a:latin typeface="맑은 고딕"/>
                <a:cs typeface="맑은 고딕"/>
              </a:rPr>
              <a:t>잘못</a:t>
            </a:r>
            <a:endParaRPr sz="1400" dirty="0">
              <a:latin typeface="맑은 고딕"/>
              <a:cs typeface="맑은 고딕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20867" y="153873"/>
            <a:ext cx="3117341" cy="2614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0" y="67055"/>
                </a:moveTo>
                <a:lnTo>
                  <a:pt x="9144000" y="67055"/>
                </a:lnTo>
                <a:lnTo>
                  <a:pt x="9144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5152" y="1269491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2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8827" y="1528572"/>
            <a:ext cx="5544820" cy="2016760"/>
          </a:xfrm>
          <a:custGeom>
            <a:avLst/>
            <a:gdLst/>
            <a:ahLst/>
            <a:cxnLst/>
            <a:rect l="l" t="t" r="r" b="b"/>
            <a:pathLst>
              <a:path w="5544820" h="2016760">
                <a:moveTo>
                  <a:pt x="0" y="2016252"/>
                </a:moveTo>
                <a:lnTo>
                  <a:pt x="5544312" y="2016252"/>
                </a:lnTo>
                <a:lnTo>
                  <a:pt x="5544312" y="0"/>
                </a:lnTo>
                <a:lnTo>
                  <a:pt x="0" y="0"/>
                </a:lnTo>
                <a:lnTo>
                  <a:pt x="0" y="2016252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9963" y="2905251"/>
            <a:ext cx="504825" cy="187960"/>
          </a:xfrm>
          <a:custGeom>
            <a:avLst/>
            <a:gdLst/>
            <a:ahLst/>
            <a:cxnLst/>
            <a:rect l="l" t="t" r="r" b="b"/>
            <a:pathLst>
              <a:path w="504825" h="187960">
                <a:moveTo>
                  <a:pt x="0" y="187451"/>
                </a:moveTo>
                <a:lnTo>
                  <a:pt x="504444" y="187451"/>
                </a:lnTo>
                <a:lnTo>
                  <a:pt x="504444" y="0"/>
                </a:lnTo>
                <a:lnTo>
                  <a:pt x="0" y="0"/>
                </a:lnTo>
                <a:lnTo>
                  <a:pt x="0" y="18745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24407" y="2905251"/>
            <a:ext cx="586740" cy="187960"/>
          </a:xfrm>
          <a:custGeom>
            <a:avLst/>
            <a:gdLst/>
            <a:ahLst/>
            <a:cxnLst/>
            <a:rect l="l" t="t" r="r" b="b"/>
            <a:pathLst>
              <a:path w="586739" h="187960">
                <a:moveTo>
                  <a:pt x="0" y="187451"/>
                </a:moveTo>
                <a:lnTo>
                  <a:pt x="586739" y="187451"/>
                </a:lnTo>
                <a:lnTo>
                  <a:pt x="586739" y="0"/>
                </a:lnTo>
                <a:lnTo>
                  <a:pt x="0" y="0"/>
                </a:lnTo>
                <a:lnTo>
                  <a:pt x="0" y="18745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1198" y="2905251"/>
            <a:ext cx="251460" cy="187960"/>
          </a:xfrm>
          <a:custGeom>
            <a:avLst/>
            <a:gdLst/>
            <a:ahLst/>
            <a:cxnLst/>
            <a:rect l="l" t="t" r="r" b="b"/>
            <a:pathLst>
              <a:path w="251460" h="187960">
                <a:moveTo>
                  <a:pt x="0" y="187451"/>
                </a:moveTo>
                <a:lnTo>
                  <a:pt x="251460" y="187451"/>
                </a:lnTo>
                <a:lnTo>
                  <a:pt x="251460" y="0"/>
                </a:lnTo>
                <a:lnTo>
                  <a:pt x="0" y="0"/>
                </a:lnTo>
                <a:lnTo>
                  <a:pt x="0" y="18745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62657" y="2905251"/>
            <a:ext cx="670560" cy="187960"/>
          </a:xfrm>
          <a:custGeom>
            <a:avLst/>
            <a:gdLst/>
            <a:ahLst/>
            <a:cxnLst/>
            <a:rect l="l" t="t" r="r" b="b"/>
            <a:pathLst>
              <a:path w="670560" h="187960">
                <a:moveTo>
                  <a:pt x="0" y="187451"/>
                </a:moveTo>
                <a:lnTo>
                  <a:pt x="670559" y="187451"/>
                </a:lnTo>
                <a:lnTo>
                  <a:pt x="670559" y="0"/>
                </a:lnTo>
                <a:lnTo>
                  <a:pt x="0" y="0"/>
                </a:lnTo>
                <a:lnTo>
                  <a:pt x="0" y="18745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33217" y="2905251"/>
            <a:ext cx="335280" cy="187960"/>
          </a:xfrm>
          <a:custGeom>
            <a:avLst/>
            <a:gdLst/>
            <a:ahLst/>
            <a:cxnLst/>
            <a:rect l="l" t="t" r="r" b="b"/>
            <a:pathLst>
              <a:path w="335280" h="187960">
                <a:moveTo>
                  <a:pt x="0" y="187451"/>
                </a:moveTo>
                <a:lnTo>
                  <a:pt x="335280" y="187451"/>
                </a:lnTo>
                <a:lnTo>
                  <a:pt x="335280" y="0"/>
                </a:lnTo>
                <a:lnTo>
                  <a:pt x="0" y="0"/>
                </a:lnTo>
                <a:lnTo>
                  <a:pt x="0" y="18745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7263" y="1553336"/>
            <a:ext cx="5074285" cy="1923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7E0054"/>
                </a:solidFill>
                <a:latin typeface="Consolas"/>
                <a:cs typeface="Consolas"/>
              </a:rPr>
              <a:t>public class </a:t>
            </a:r>
            <a:r>
              <a:rPr sz="1200" dirty="0">
                <a:latin typeface="Consolas"/>
                <a:cs typeface="Consolas"/>
              </a:rPr>
              <a:t>TryCheckedException</a:t>
            </a:r>
            <a:r>
              <a:rPr sz="1200" spc="1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179705">
              <a:lnSpc>
                <a:spcPct val="100000"/>
              </a:lnSpc>
              <a:spcBef>
                <a:spcPts val="60"/>
              </a:spcBef>
            </a:pPr>
            <a:r>
              <a:rPr sz="1200" b="1" dirty="0">
                <a:solidFill>
                  <a:srgbClr val="7E0054"/>
                </a:solidFill>
                <a:latin typeface="Consolas"/>
                <a:cs typeface="Consolas"/>
              </a:rPr>
              <a:t>public static void </a:t>
            </a:r>
            <a:r>
              <a:rPr sz="1200" dirty="0">
                <a:latin typeface="Consolas"/>
                <a:cs typeface="Consolas"/>
              </a:rPr>
              <a:t>main(String[] args)</a:t>
            </a:r>
            <a:r>
              <a:rPr sz="1200" spc="1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265430">
              <a:lnSpc>
                <a:spcPct val="100000"/>
              </a:lnSpc>
            </a:pPr>
            <a:r>
              <a:rPr sz="1200" spc="-5" dirty="0">
                <a:solidFill>
                  <a:srgbClr val="3E7E5F"/>
                </a:solidFill>
                <a:latin typeface="Consolas"/>
                <a:cs typeface="Consolas"/>
              </a:rPr>
              <a:t>//</a:t>
            </a:r>
            <a:r>
              <a:rPr sz="1200" spc="-5" dirty="0">
                <a:solidFill>
                  <a:srgbClr val="3E7E5F"/>
                </a:solidFill>
                <a:latin typeface="맑은 고딕"/>
                <a:cs typeface="맑은 고딕"/>
              </a:rPr>
              <a:t>메소드</a:t>
            </a:r>
            <a:r>
              <a:rPr sz="1200" spc="225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spc="-5" dirty="0">
                <a:solidFill>
                  <a:srgbClr val="3E7E5F"/>
                </a:solidFill>
                <a:latin typeface="Consolas"/>
                <a:cs typeface="Consolas"/>
              </a:rPr>
              <a:t>Class.forName()</a:t>
            </a:r>
            <a:r>
              <a:rPr sz="1200" spc="-5" dirty="0">
                <a:solidFill>
                  <a:srgbClr val="3E7E5F"/>
                </a:solidFill>
                <a:latin typeface="맑은 고딕"/>
                <a:cs typeface="맑은 고딕"/>
              </a:rPr>
              <a:t>을</a:t>
            </a:r>
            <a:r>
              <a:rPr sz="1200" spc="-105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spc="-5" dirty="0">
                <a:solidFill>
                  <a:srgbClr val="3E7E5F"/>
                </a:solidFill>
                <a:latin typeface="맑은 고딕"/>
                <a:cs typeface="맑은 고딕"/>
              </a:rPr>
              <a:t>사용하려면</a:t>
            </a:r>
            <a:r>
              <a:rPr sz="1200" spc="-140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spc="-5" dirty="0">
                <a:solidFill>
                  <a:srgbClr val="3E7E5F"/>
                </a:solidFill>
                <a:latin typeface="맑은 고딕"/>
                <a:cs typeface="맑은 고딕"/>
              </a:rPr>
              <a:t>반드시</a:t>
            </a:r>
            <a:r>
              <a:rPr sz="1200" spc="-140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spc="-5" dirty="0">
                <a:solidFill>
                  <a:srgbClr val="3E7E5F"/>
                </a:solidFill>
                <a:latin typeface="맑은 고딕"/>
                <a:cs typeface="맑은 고딕"/>
              </a:rPr>
              <a:t>예외처리를</a:t>
            </a:r>
            <a:r>
              <a:rPr sz="1200" spc="-135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spc="-5" dirty="0">
                <a:solidFill>
                  <a:srgbClr val="3E7E5F"/>
                </a:solidFill>
                <a:latin typeface="맑은 고딕"/>
                <a:cs typeface="맑은 고딕"/>
              </a:rPr>
              <a:t>해야</a:t>
            </a:r>
            <a:r>
              <a:rPr sz="1200" spc="-140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함</a:t>
            </a:r>
            <a:endParaRPr sz="1200">
              <a:latin typeface="맑은 고딕"/>
              <a:cs typeface="맑은 고딕"/>
            </a:endParaRPr>
          </a:p>
          <a:p>
            <a:pPr marL="515620" marR="5080" indent="-167640">
              <a:lnSpc>
                <a:spcPct val="104200"/>
              </a:lnSpc>
              <a:spcBef>
                <a:spcPts val="5"/>
              </a:spcBef>
            </a:pPr>
            <a:r>
              <a:rPr sz="1200" b="1" dirty="0">
                <a:solidFill>
                  <a:srgbClr val="7E0054"/>
                </a:solidFill>
                <a:latin typeface="Consolas"/>
                <a:cs typeface="Consolas"/>
              </a:rPr>
              <a:t>try </a:t>
            </a:r>
            <a:r>
              <a:rPr sz="1200" dirty="0">
                <a:latin typeface="Consolas"/>
                <a:cs typeface="Consolas"/>
              </a:rPr>
              <a:t>{  System.</a:t>
            </a:r>
            <a:r>
              <a:rPr sz="1200" i="1" dirty="0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sz="1200" dirty="0">
                <a:latin typeface="Consolas"/>
                <a:cs typeface="Consolas"/>
              </a:rPr>
              <a:t>.println(Class.</a:t>
            </a:r>
            <a:r>
              <a:rPr sz="1200" i="1" dirty="0">
                <a:latin typeface="Consolas"/>
                <a:cs typeface="Consolas"/>
              </a:rPr>
              <a:t>forName</a:t>
            </a:r>
            <a:r>
              <a:rPr sz="1200" dirty="0"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2A00FF"/>
                </a:solidFill>
                <a:latin typeface="Consolas"/>
                <a:cs typeface="Consolas"/>
              </a:rPr>
              <a:t>"java.lang.Object"</a:t>
            </a:r>
            <a:r>
              <a:rPr sz="1200" dirty="0">
                <a:latin typeface="Consolas"/>
                <a:cs typeface="Consolas"/>
              </a:rPr>
              <a:t>));</a:t>
            </a:r>
            <a:endParaRPr sz="1200">
              <a:latin typeface="Consolas"/>
              <a:cs typeface="Consolas"/>
            </a:endParaRPr>
          </a:p>
          <a:p>
            <a:pPr marL="516890" marR="1604010" indent="-169545">
              <a:lnSpc>
                <a:spcPct val="104200"/>
              </a:lnSpc>
              <a:tabLst>
                <a:tab pos="3213100" algn="l"/>
              </a:tabLst>
            </a:pPr>
            <a:r>
              <a:rPr sz="1200" dirty="0">
                <a:latin typeface="Consolas"/>
                <a:cs typeface="Consolas"/>
              </a:rPr>
              <a:t>} </a:t>
            </a:r>
            <a:r>
              <a:rPr sz="1200" b="1" dirty="0">
                <a:solidFill>
                  <a:srgbClr val="7E0054"/>
                </a:solidFill>
                <a:latin typeface="Consolas"/>
                <a:cs typeface="Consolas"/>
              </a:rPr>
              <a:t>catch </a:t>
            </a:r>
            <a:r>
              <a:rPr sz="1200" dirty="0">
                <a:latin typeface="Consolas"/>
                <a:cs typeface="Consolas"/>
              </a:rPr>
              <a:t>(ClassNotFoundException ex) {  System.</a:t>
            </a:r>
            <a:r>
              <a:rPr sz="1200" i="1" dirty="0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sz="1200" dirty="0">
                <a:latin typeface="Consolas"/>
                <a:cs typeface="Consolas"/>
              </a:rPr>
              <a:t>.println(ex);	}</a:t>
            </a:r>
            <a:endParaRPr sz="120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02004" y="201625"/>
            <a:ext cx="6117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체크</a:t>
            </a:r>
            <a:r>
              <a:rPr spc="-635" dirty="0"/>
              <a:t> </a:t>
            </a:r>
            <a:r>
              <a:rPr spc="-40" dirty="0"/>
              <a:t>예외의</a:t>
            </a:r>
            <a:r>
              <a:rPr spc="-615" dirty="0"/>
              <a:t> </a:t>
            </a:r>
            <a:r>
              <a:rPr b="0" spc="-40" dirty="0">
                <a:latin typeface="Calibri Light"/>
                <a:cs typeface="Calibri Light"/>
              </a:rPr>
              <a:t>2</a:t>
            </a:r>
            <a:r>
              <a:rPr spc="-40" dirty="0"/>
              <a:t>가지</a:t>
            </a:r>
            <a:r>
              <a:rPr spc="-640" dirty="0"/>
              <a:t> </a:t>
            </a:r>
            <a:r>
              <a:rPr spc="-60" dirty="0"/>
              <a:t>처리방법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25881" y="859185"/>
            <a:ext cx="2714625" cy="65659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1.</a:t>
            </a: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첫 번째</a:t>
            </a:r>
            <a:r>
              <a:rPr sz="2000" spc="-545" dirty="0">
                <a:solidFill>
                  <a:srgbClr val="404040"/>
                </a:solidFill>
                <a:latin typeface="맑은 고딕"/>
                <a:cs typeface="맑은 고딕"/>
              </a:rPr>
              <a:t> </a:t>
            </a:r>
            <a:r>
              <a:rPr sz="2000" dirty="0">
                <a:solidFill>
                  <a:srgbClr val="404040"/>
                </a:solidFill>
                <a:latin typeface="맑은 고딕"/>
                <a:cs typeface="맑은 고딕"/>
              </a:rPr>
              <a:t>방법</a:t>
            </a:r>
            <a:endParaRPr sz="2000">
              <a:latin typeface="맑은 고딕"/>
              <a:cs typeface="맑은 고딕"/>
            </a:endParaRPr>
          </a:p>
          <a:p>
            <a:pPr marL="304800" indent="-182880">
              <a:lnSpc>
                <a:spcPct val="100000"/>
              </a:lnSpc>
              <a:spcBef>
                <a:spcPts val="190"/>
              </a:spcBef>
              <a:buClr>
                <a:srgbClr val="E38312"/>
              </a:buClr>
              <a:buChar char="◦"/>
              <a:tabLst>
                <a:tab pos="305435" algn="l"/>
              </a:tabLst>
            </a:pPr>
            <a:r>
              <a:rPr sz="1800" spc="-10" dirty="0">
                <a:solidFill>
                  <a:srgbClr val="006FC0"/>
                </a:solidFill>
                <a:latin typeface="Calibri"/>
                <a:cs typeface="Calibri"/>
              </a:rPr>
              <a:t>try~catch </a:t>
            </a:r>
            <a:r>
              <a:rPr sz="1800" dirty="0">
                <a:solidFill>
                  <a:srgbClr val="006FC0"/>
                </a:solidFill>
                <a:latin typeface="맑은 고딕"/>
                <a:cs typeface="맑은 고딕"/>
              </a:rPr>
              <a:t>구문 사용</a:t>
            </a:r>
            <a:r>
              <a:rPr sz="1800" spc="-495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06FC0"/>
                </a:solidFill>
                <a:latin typeface="맑은 고딕"/>
                <a:cs typeface="맑은 고딕"/>
              </a:rPr>
              <a:t>방법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20867" y="153873"/>
            <a:ext cx="3117341" cy="2614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14019" y="3377867"/>
            <a:ext cx="7442834" cy="7200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580"/>
              </a:spcBef>
              <a:buAutoNum type="arabicPeriod" startAt="2"/>
              <a:tabLst>
                <a:tab pos="296545" algn="l"/>
              </a:tabLst>
            </a:pPr>
            <a:r>
              <a:rPr sz="2000" dirty="0">
                <a:latin typeface="맑은 고딕"/>
                <a:cs typeface="맑은 고딕"/>
              </a:rPr>
              <a:t>두 번째</a:t>
            </a:r>
            <a:r>
              <a:rPr sz="2000" spc="-25" dirty="0">
                <a:latin typeface="맑은 고딕"/>
                <a:cs typeface="맑은 고딕"/>
              </a:rPr>
              <a:t> </a:t>
            </a:r>
            <a:r>
              <a:rPr sz="2000" dirty="0">
                <a:latin typeface="맑은 고딕"/>
                <a:cs typeface="맑은 고딕"/>
              </a:rPr>
              <a:t>방법</a:t>
            </a:r>
            <a:endParaRPr sz="2000">
              <a:latin typeface="맑은 고딕"/>
              <a:cs typeface="맑은 고딕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Clr>
                <a:srgbClr val="E38312"/>
              </a:buClr>
              <a:buFont typeface="MS UI Gothic"/>
              <a:buChar char="▪"/>
              <a:tabLst>
                <a:tab pos="756285" algn="l"/>
                <a:tab pos="756920" algn="l"/>
              </a:tabLst>
            </a:pPr>
            <a:r>
              <a:rPr sz="1800" dirty="0">
                <a:solidFill>
                  <a:srgbClr val="006FC0"/>
                </a:solidFill>
                <a:latin typeface="맑은 고딕"/>
                <a:cs typeface="맑은 고딕"/>
              </a:rPr>
              <a:t>예외가 발생될 수 있는 구문이 속한 메소드에서 다시 예외를</a:t>
            </a:r>
            <a:r>
              <a:rPr sz="1800" spc="-75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06FC0"/>
                </a:solidFill>
                <a:latin typeface="맑은 고딕"/>
                <a:cs typeface="맑은 고딕"/>
              </a:rPr>
              <a:t>전달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1219" y="4017136"/>
            <a:ext cx="4295140" cy="6845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535"/>
              </a:spcBef>
            </a:pPr>
            <a:r>
              <a:rPr sz="1800" spc="-10" dirty="0">
                <a:solidFill>
                  <a:srgbClr val="006FC0"/>
                </a:solidFill>
                <a:latin typeface="맑은 고딕"/>
                <a:cs typeface="맑은 고딕"/>
              </a:rPr>
              <a:t>(propagation)하는</a:t>
            </a:r>
            <a:r>
              <a:rPr sz="1800" spc="-30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06FC0"/>
                </a:solidFill>
                <a:latin typeface="맑은 고딕"/>
                <a:cs typeface="맑은 고딕"/>
              </a:rPr>
              <a:t>방법</a:t>
            </a:r>
            <a:endParaRPr sz="1800">
              <a:latin typeface="맑은 고딕"/>
              <a:cs typeface="맑은 고딕"/>
            </a:endParaRPr>
          </a:p>
          <a:p>
            <a:pPr marL="299085" indent="-286385">
              <a:lnSpc>
                <a:spcPct val="100000"/>
              </a:lnSpc>
              <a:spcBef>
                <a:spcPts val="430"/>
              </a:spcBef>
              <a:buClr>
                <a:srgbClr val="E38312"/>
              </a:buClr>
              <a:buFont typeface="MS UI Gothic"/>
              <a:buChar char="▪"/>
              <a:tabLst>
                <a:tab pos="299085" algn="l"/>
                <a:tab pos="299720" algn="l"/>
              </a:tabLst>
            </a:pPr>
            <a:r>
              <a:rPr sz="1800" dirty="0">
                <a:solidFill>
                  <a:srgbClr val="006FC0"/>
                </a:solidFill>
                <a:latin typeface="맑은 고딕"/>
                <a:cs typeface="맑은 고딕"/>
              </a:rPr>
              <a:t>상위 메소드로 예외처리를 미루는</a:t>
            </a:r>
            <a:r>
              <a:rPr sz="1800" spc="-85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06FC0"/>
                </a:solidFill>
                <a:latin typeface="맑은 고딕"/>
                <a:cs typeface="맑은 고딕"/>
              </a:rPr>
              <a:t>방법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92480" y="4712208"/>
            <a:ext cx="6736080" cy="1630680"/>
          </a:xfrm>
          <a:custGeom>
            <a:avLst/>
            <a:gdLst/>
            <a:ahLst/>
            <a:cxnLst/>
            <a:rect l="l" t="t" r="r" b="b"/>
            <a:pathLst>
              <a:path w="6736080" h="1630679">
                <a:moveTo>
                  <a:pt x="0" y="1630680"/>
                </a:moveTo>
                <a:lnTo>
                  <a:pt x="6736080" y="1630680"/>
                </a:lnTo>
                <a:lnTo>
                  <a:pt x="6736080" y="0"/>
                </a:lnTo>
                <a:lnTo>
                  <a:pt x="0" y="0"/>
                </a:lnTo>
                <a:lnTo>
                  <a:pt x="0" y="163068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71524" y="4737354"/>
            <a:ext cx="3391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7E0054"/>
                </a:solidFill>
                <a:latin typeface="Consolas"/>
                <a:cs typeface="Consolas"/>
              </a:rPr>
              <a:t>public class </a:t>
            </a:r>
            <a:r>
              <a:rPr sz="1200" dirty="0">
                <a:latin typeface="Consolas"/>
                <a:cs typeface="Consolas"/>
              </a:rPr>
              <a:t>PropagateCheckedException</a:t>
            </a:r>
            <a:r>
              <a:rPr sz="1200" spc="-1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1524" y="5118353"/>
            <a:ext cx="6372860" cy="1161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E7E5F"/>
                </a:solidFill>
                <a:latin typeface="Consolas"/>
                <a:cs typeface="Consolas"/>
              </a:rPr>
              <a:t>//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메소드</a:t>
            </a:r>
            <a:r>
              <a:rPr sz="1200" spc="-140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선언에서</a:t>
            </a:r>
            <a:r>
              <a:rPr sz="1200" spc="-140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다시</a:t>
            </a:r>
            <a:r>
              <a:rPr sz="1200" spc="-140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예외</a:t>
            </a:r>
            <a:r>
              <a:rPr sz="1200" spc="240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3E7E5F"/>
                </a:solidFill>
                <a:latin typeface="Consolas"/>
                <a:cs typeface="Consolas"/>
              </a:rPr>
              <a:t>ClassNotFoundException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의</a:t>
            </a:r>
            <a:r>
              <a:rPr sz="1200" spc="-95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발생을</a:t>
            </a:r>
            <a:r>
              <a:rPr sz="1200" spc="-140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전달</a:t>
            </a:r>
            <a:endParaRPr sz="1200">
              <a:latin typeface="맑은 고딕"/>
              <a:cs typeface="맑은 고딕"/>
            </a:endParaRPr>
          </a:p>
          <a:p>
            <a:pPr marL="469265">
              <a:lnSpc>
                <a:spcPct val="100000"/>
              </a:lnSpc>
              <a:spcBef>
                <a:spcPts val="60"/>
              </a:spcBef>
            </a:pPr>
            <a:r>
              <a:rPr sz="1200" b="1" dirty="0">
                <a:solidFill>
                  <a:srgbClr val="7E0054"/>
                </a:solidFill>
                <a:latin typeface="Consolas"/>
                <a:cs typeface="Consolas"/>
              </a:rPr>
              <a:t>public static void </a:t>
            </a:r>
            <a:r>
              <a:rPr sz="1200" dirty="0">
                <a:latin typeface="Consolas"/>
                <a:cs typeface="Consolas"/>
              </a:rPr>
              <a:t>main(String[] args) </a:t>
            </a:r>
            <a:r>
              <a:rPr sz="1200" b="1" dirty="0">
                <a:solidFill>
                  <a:srgbClr val="7E0054"/>
                </a:solidFill>
                <a:latin typeface="Consolas"/>
                <a:cs typeface="Consolas"/>
              </a:rPr>
              <a:t>throws </a:t>
            </a:r>
            <a:r>
              <a:rPr sz="1200" dirty="0">
                <a:latin typeface="Consolas"/>
                <a:cs typeface="Consolas"/>
              </a:rPr>
              <a:t>ClassNotFoundException {</a:t>
            </a:r>
            <a:endParaRPr sz="12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solidFill>
                  <a:srgbClr val="3E7E5F"/>
                </a:solidFill>
                <a:latin typeface="Consolas"/>
                <a:cs typeface="Consolas"/>
              </a:rPr>
              <a:t>//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메소드</a:t>
            </a:r>
            <a:r>
              <a:rPr sz="1200" spc="229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3E7E5F"/>
                </a:solidFill>
                <a:latin typeface="Consolas"/>
                <a:cs typeface="Consolas"/>
              </a:rPr>
              <a:t>Class.forName()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을</a:t>
            </a:r>
            <a:r>
              <a:rPr sz="1200" spc="-105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사용하려면</a:t>
            </a:r>
            <a:r>
              <a:rPr sz="1200" spc="-140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반드시</a:t>
            </a:r>
            <a:r>
              <a:rPr sz="1200" spc="-140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예외처리를</a:t>
            </a:r>
            <a:r>
              <a:rPr sz="1200" spc="-140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해야</a:t>
            </a:r>
            <a:r>
              <a:rPr sz="1200" spc="-140" dirty="0">
                <a:solidFill>
                  <a:srgbClr val="3E7E5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3E7E5F"/>
                </a:solidFill>
                <a:latin typeface="맑은 고딕"/>
                <a:cs typeface="맑은 고딕"/>
              </a:rPr>
              <a:t>함</a:t>
            </a:r>
            <a:endParaRPr sz="1200">
              <a:latin typeface="맑은 고딕"/>
              <a:cs typeface="맑은 고딕"/>
            </a:endParaRPr>
          </a:p>
          <a:p>
            <a:pPr marL="927100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latin typeface="Consolas"/>
                <a:cs typeface="Consolas"/>
              </a:rPr>
              <a:t>System.</a:t>
            </a:r>
            <a:r>
              <a:rPr sz="1200" i="1" dirty="0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sz="1200" dirty="0">
                <a:latin typeface="Consolas"/>
                <a:cs typeface="Consolas"/>
              </a:rPr>
              <a:t>.println(Class.</a:t>
            </a:r>
            <a:r>
              <a:rPr sz="1200" i="1" dirty="0">
                <a:latin typeface="Consolas"/>
                <a:cs typeface="Consolas"/>
              </a:rPr>
              <a:t>forName</a:t>
            </a:r>
            <a:r>
              <a:rPr sz="1200" dirty="0"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2A00FF"/>
                </a:solidFill>
                <a:latin typeface="Consolas"/>
                <a:cs typeface="Consolas"/>
              </a:rPr>
              <a:t>"java.lang.Object"</a:t>
            </a:r>
            <a:r>
              <a:rPr sz="1200" dirty="0">
                <a:latin typeface="Consolas"/>
                <a:cs typeface="Consolas"/>
              </a:rPr>
              <a:t>));</a:t>
            </a:r>
            <a:endParaRPr sz="1200">
              <a:latin typeface="Consolas"/>
              <a:cs typeface="Consolas"/>
            </a:endParaRPr>
          </a:p>
          <a:p>
            <a:pPr marL="469265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71383" y="4096510"/>
            <a:ext cx="3303904" cy="881380"/>
          </a:xfrm>
          <a:custGeom>
            <a:avLst/>
            <a:gdLst/>
            <a:ahLst/>
            <a:cxnLst/>
            <a:rect l="l" t="t" r="r" b="b"/>
            <a:pathLst>
              <a:path w="3303904" h="881379">
                <a:moveTo>
                  <a:pt x="2118308" y="797561"/>
                </a:moveTo>
                <a:lnTo>
                  <a:pt x="1261216" y="797561"/>
                </a:lnTo>
                <a:lnTo>
                  <a:pt x="1296993" y="814843"/>
                </a:lnTo>
                <a:lnTo>
                  <a:pt x="1337717" y="830412"/>
                </a:lnTo>
                <a:lnTo>
                  <a:pt x="1382914" y="844138"/>
                </a:lnTo>
                <a:lnTo>
                  <a:pt x="1432111" y="855896"/>
                </a:lnTo>
                <a:lnTo>
                  <a:pt x="1484836" y="865559"/>
                </a:lnTo>
                <a:lnTo>
                  <a:pt x="1540616" y="872999"/>
                </a:lnTo>
                <a:lnTo>
                  <a:pt x="1599200" y="878144"/>
                </a:lnTo>
                <a:lnTo>
                  <a:pt x="1657771" y="880744"/>
                </a:lnTo>
                <a:lnTo>
                  <a:pt x="1715847" y="880893"/>
                </a:lnTo>
                <a:lnTo>
                  <a:pt x="1772944" y="878684"/>
                </a:lnTo>
                <a:lnTo>
                  <a:pt x="1828581" y="874212"/>
                </a:lnTo>
                <a:lnTo>
                  <a:pt x="1882273" y="867570"/>
                </a:lnTo>
                <a:lnTo>
                  <a:pt x="1933538" y="858854"/>
                </a:lnTo>
                <a:lnTo>
                  <a:pt x="1981893" y="848157"/>
                </a:lnTo>
                <a:lnTo>
                  <a:pt x="2026855" y="835574"/>
                </a:lnTo>
                <a:lnTo>
                  <a:pt x="2067942" y="821197"/>
                </a:lnTo>
                <a:lnTo>
                  <a:pt x="2104669" y="805123"/>
                </a:lnTo>
                <a:lnTo>
                  <a:pt x="2118308" y="797561"/>
                </a:lnTo>
                <a:close/>
              </a:path>
              <a:path w="3303904" h="881379">
                <a:moveTo>
                  <a:pt x="2742366" y="720218"/>
                </a:moveTo>
                <a:lnTo>
                  <a:pt x="445495" y="720218"/>
                </a:lnTo>
                <a:lnTo>
                  <a:pt x="449559" y="722758"/>
                </a:lnTo>
                <a:lnTo>
                  <a:pt x="483288" y="741281"/>
                </a:lnTo>
                <a:lnTo>
                  <a:pt x="518561" y="757072"/>
                </a:lnTo>
                <a:lnTo>
                  <a:pt x="557198" y="771370"/>
                </a:lnTo>
                <a:lnTo>
                  <a:pt x="598858" y="784143"/>
                </a:lnTo>
                <a:lnTo>
                  <a:pt x="643203" y="795363"/>
                </a:lnTo>
                <a:lnTo>
                  <a:pt x="689893" y="804997"/>
                </a:lnTo>
                <a:lnTo>
                  <a:pt x="738589" y="813015"/>
                </a:lnTo>
                <a:lnTo>
                  <a:pt x="788952" y="819386"/>
                </a:lnTo>
                <a:lnTo>
                  <a:pt x="840642" y="824080"/>
                </a:lnTo>
                <a:lnTo>
                  <a:pt x="893319" y="827066"/>
                </a:lnTo>
                <a:lnTo>
                  <a:pt x="946645" y="828313"/>
                </a:lnTo>
                <a:lnTo>
                  <a:pt x="1000281" y="827791"/>
                </a:lnTo>
                <a:lnTo>
                  <a:pt x="1053885" y="825468"/>
                </a:lnTo>
                <a:lnTo>
                  <a:pt x="1107121" y="821314"/>
                </a:lnTo>
                <a:lnTo>
                  <a:pt x="1159647" y="815299"/>
                </a:lnTo>
                <a:lnTo>
                  <a:pt x="1211125" y="807392"/>
                </a:lnTo>
                <a:lnTo>
                  <a:pt x="1261216" y="797561"/>
                </a:lnTo>
                <a:lnTo>
                  <a:pt x="2118308" y="797561"/>
                </a:lnTo>
                <a:lnTo>
                  <a:pt x="2136555" y="787444"/>
                </a:lnTo>
                <a:lnTo>
                  <a:pt x="2163117" y="768255"/>
                </a:lnTo>
                <a:lnTo>
                  <a:pt x="2183871" y="747650"/>
                </a:lnTo>
                <a:lnTo>
                  <a:pt x="2651397" y="747650"/>
                </a:lnTo>
                <a:lnTo>
                  <a:pt x="2655712" y="746798"/>
                </a:lnTo>
                <a:lnTo>
                  <a:pt x="2705335" y="733441"/>
                </a:lnTo>
                <a:lnTo>
                  <a:pt x="2742366" y="720218"/>
                </a:lnTo>
                <a:close/>
              </a:path>
              <a:path w="3303904" h="881379">
                <a:moveTo>
                  <a:pt x="2651397" y="747650"/>
                </a:moveTo>
                <a:lnTo>
                  <a:pt x="2183871" y="747650"/>
                </a:lnTo>
                <a:lnTo>
                  <a:pt x="2226595" y="756147"/>
                </a:lnTo>
                <a:lnTo>
                  <a:pt x="2271428" y="762863"/>
                </a:lnTo>
                <a:lnTo>
                  <a:pt x="2317949" y="767757"/>
                </a:lnTo>
                <a:lnTo>
                  <a:pt x="2365739" y="770786"/>
                </a:lnTo>
                <a:lnTo>
                  <a:pt x="2414376" y="771907"/>
                </a:lnTo>
                <a:lnTo>
                  <a:pt x="2479758" y="770370"/>
                </a:lnTo>
                <a:lnTo>
                  <a:pt x="2542235" y="765509"/>
                </a:lnTo>
                <a:lnTo>
                  <a:pt x="2601116" y="757570"/>
                </a:lnTo>
                <a:lnTo>
                  <a:pt x="2651397" y="747650"/>
                </a:lnTo>
                <a:close/>
              </a:path>
              <a:path w="3303904" h="881379">
                <a:moveTo>
                  <a:pt x="790761" y="77452"/>
                </a:moveTo>
                <a:lnTo>
                  <a:pt x="741659" y="78995"/>
                </a:lnTo>
                <a:lnTo>
                  <a:pt x="672899" y="84123"/>
                </a:lnTo>
                <a:lnTo>
                  <a:pt x="608195" y="92354"/>
                </a:lnTo>
                <a:lnTo>
                  <a:pt x="548071" y="103436"/>
                </a:lnTo>
                <a:lnTo>
                  <a:pt x="493054" y="117118"/>
                </a:lnTo>
                <a:lnTo>
                  <a:pt x="443565" y="133191"/>
                </a:lnTo>
                <a:lnTo>
                  <a:pt x="400442" y="151274"/>
                </a:lnTo>
                <a:lnTo>
                  <a:pt x="363898" y="171244"/>
                </a:lnTo>
                <a:lnTo>
                  <a:pt x="312962" y="215708"/>
                </a:lnTo>
                <a:lnTo>
                  <a:pt x="295068" y="264528"/>
                </a:lnTo>
                <a:lnTo>
                  <a:pt x="299826" y="289942"/>
                </a:lnTo>
                <a:lnTo>
                  <a:pt x="297159" y="292736"/>
                </a:lnTo>
                <a:lnTo>
                  <a:pt x="235605" y="297209"/>
                </a:lnTo>
                <a:lnTo>
                  <a:pt x="178203" y="305694"/>
                </a:lnTo>
                <a:lnTo>
                  <a:pt x="126331" y="317873"/>
                </a:lnTo>
                <a:lnTo>
                  <a:pt x="81364" y="333429"/>
                </a:lnTo>
                <a:lnTo>
                  <a:pt x="44683" y="352045"/>
                </a:lnTo>
                <a:lnTo>
                  <a:pt x="13765" y="377654"/>
                </a:lnTo>
                <a:lnTo>
                  <a:pt x="0" y="404288"/>
                </a:lnTo>
                <a:lnTo>
                  <a:pt x="2672" y="430948"/>
                </a:lnTo>
                <a:lnTo>
                  <a:pt x="21066" y="456638"/>
                </a:lnTo>
                <a:lnTo>
                  <a:pt x="54467" y="480359"/>
                </a:lnTo>
                <a:lnTo>
                  <a:pt x="102159" y="501115"/>
                </a:lnTo>
                <a:lnTo>
                  <a:pt x="163428" y="517907"/>
                </a:lnTo>
                <a:lnTo>
                  <a:pt x="119819" y="538953"/>
                </a:lnTo>
                <a:lnTo>
                  <a:pt x="90117" y="562643"/>
                </a:lnTo>
                <a:lnTo>
                  <a:pt x="75131" y="588094"/>
                </a:lnTo>
                <a:lnTo>
                  <a:pt x="75671" y="614427"/>
                </a:lnTo>
                <a:lnTo>
                  <a:pt x="116811" y="659960"/>
                </a:lnTo>
                <a:lnTo>
                  <a:pt x="153931" y="679020"/>
                </a:lnTo>
                <a:lnTo>
                  <a:pt x="200099" y="695040"/>
                </a:lnTo>
                <a:lnTo>
                  <a:pt x="253828" y="707596"/>
                </a:lnTo>
                <a:lnTo>
                  <a:pt x="313629" y="716261"/>
                </a:lnTo>
                <a:lnTo>
                  <a:pt x="378014" y="720610"/>
                </a:lnTo>
                <a:lnTo>
                  <a:pt x="2742366" y="720218"/>
                </a:lnTo>
                <a:lnTo>
                  <a:pt x="2786901" y="699953"/>
                </a:lnTo>
                <a:lnTo>
                  <a:pt x="2840301" y="659074"/>
                </a:lnTo>
                <a:lnTo>
                  <a:pt x="2860019" y="612776"/>
                </a:lnTo>
                <a:lnTo>
                  <a:pt x="2912259" y="609066"/>
                </a:lnTo>
                <a:lnTo>
                  <a:pt x="2962964" y="603461"/>
                </a:lnTo>
                <a:lnTo>
                  <a:pt x="3011754" y="596015"/>
                </a:lnTo>
                <a:lnTo>
                  <a:pt x="3058253" y="586782"/>
                </a:lnTo>
                <a:lnTo>
                  <a:pt x="3102081" y="575819"/>
                </a:lnTo>
                <a:lnTo>
                  <a:pt x="3159320" y="557281"/>
                </a:lnTo>
                <a:lnTo>
                  <a:pt x="3207285" y="536435"/>
                </a:lnTo>
                <a:lnTo>
                  <a:pt x="3245831" y="513690"/>
                </a:lnTo>
                <a:lnTo>
                  <a:pt x="3294069" y="464127"/>
                </a:lnTo>
                <a:lnTo>
                  <a:pt x="3303467" y="438123"/>
                </a:lnTo>
                <a:lnTo>
                  <a:pt x="3302853" y="411847"/>
                </a:lnTo>
                <a:lnTo>
                  <a:pt x="3292080" y="385707"/>
                </a:lnTo>
                <a:lnTo>
                  <a:pt x="3271001" y="360109"/>
                </a:lnTo>
                <a:lnTo>
                  <a:pt x="3239467" y="335460"/>
                </a:lnTo>
                <a:lnTo>
                  <a:pt x="3197331" y="312167"/>
                </a:lnTo>
                <a:lnTo>
                  <a:pt x="3202659" y="307381"/>
                </a:lnTo>
                <a:lnTo>
                  <a:pt x="3207570" y="302547"/>
                </a:lnTo>
                <a:lnTo>
                  <a:pt x="3212029" y="297665"/>
                </a:lnTo>
                <a:lnTo>
                  <a:pt x="3216000" y="292736"/>
                </a:lnTo>
                <a:lnTo>
                  <a:pt x="3228891" y="266363"/>
                </a:lnTo>
                <a:lnTo>
                  <a:pt x="3228730" y="240331"/>
                </a:lnTo>
                <a:lnTo>
                  <a:pt x="3192479" y="191339"/>
                </a:lnTo>
                <a:lnTo>
                  <a:pt x="3158000" y="169399"/>
                </a:lnTo>
                <a:lnTo>
                  <a:pt x="3113694" y="149847"/>
                </a:lnTo>
                <a:lnTo>
                  <a:pt x="3060366" y="133191"/>
                </a:lnTo>
                <a:lnTo>
                  <a:pt x="2998822" y="119945"/>
                </a:lnTo>
                <a:lnTo>
                  <a:pt x="2929869" y="110618"/>
                </a:lnTo>
                <a:lnTo>
                  <a:pt x="2924155" y="102998"/>
                </a:lnTo>
                <a:lnTo>
                  <a:pt x="1071986" y="102998"/>
                </a:lnTo>
                <a:lnTo>
                  <a:pt x="1028342" y="94697"/>
                </a:lnTo>
                <a:lnTo>
                  <a:pt x="982972" y="87987"/>
                </a:lnTo>
                <a:lnTo>
                  <a:pt x="936202" y="82887"/>
                </a:lnTo>
                <a:lnTo>
                  <a:pt x="888359" y="79418"/>
                </a:lnTo>
                <a:lnTo>
                  <a:pt x="839770" y="77600"/>
                </a:lnTo>
                <a:lnTo>
                  <a:pt x="790761" y="77452"/>
                </a:lnTo>
                <a:close/>
              </a:path>
              <a:path w="3303904" h="881379">
                <a:moveTo>
                  <a:pt x="1453568" y="24531"/>
                </a:moveTo>
                <a:lnTo>
                  <a:pt x="1396302" y="24905"/>
                </a:lnTo>
                <a:lnTo>
                  <a:pt x="1340068" y="28164"/>
                </a:lnTo>
                <a:lnTo>
                  <a:pt x="1285716" y="34213"/>
                </a:lnTo>
                <a:lnTo>
                  <a:pt x="1234097" y="42957"/>
                </a:lnTo>
                <a:lnTo>
                  <a:pt x="1186063" y="54302"/>
                </a:lnTo>
                <a:lnTo>
                  <a:pt x="1142466" y="68154"/>
                </a:lnTo>
                <a:lnTo>
                  <a:pt x="1104156" y="84417"/>
                </a:lnTo>
                <a:lnTo>
                  <a:pt x="1071986" y="102998"/>
                </a:lnTo>
                <a:lnTo>
                  <a:pt x="2924155" y="102998"/>
                </a:lnTo>
                <a:lnTo>
                  <a:pt x="2913051" y="88188"/>
                </a:lnTo>
                <a:lnTo>
                  <a:pt x="2886101" y="67295"/>
                </a:lnTo>
                <a:lnTo>
                  <a:pt x="2885399" y="66930"/>
                </a:lnTo>
                <a:lnTo>
                  <a:pt x="1717781" y="66930"/>
                </a:lnTo>
                <a:lnTo>
                  <a:pt x="1696030" y="59695"/>
                </a:lnTo>
                <a:lnTo>
                  <a:pt x="1648576" y="47034"/>
                </a:lnTo>
                <a:lnTo>
                  <a:pt x="1567788" y="32812"/>
                </a:lnTo>
                <a:lnTo>
                  <a:pt x="1511014" y="27135"/>
                </a:lnTo>
                <a:lnTo>
                  <a:pt x="1453568" y="24531"/>
                </a:lnTo>
                <a:close/>
              </a:path>
              <a:path w="3303904" h="881379">
                <a:moveTo>
                  <a:pt x="1994161" y="81"/>
                </a:moveTo>
                <a:lnTo>
                  <a:pt x="1937815" y="3224"/>
                </a:lnTo>
                <a:lnTo>
                  <a:pt x="1883893" y="9769"/>
                </a:lnTo>
                <a:lnTo>
                  <a:pt x="1833661" y="19564"/>
                </a:lnTo>
                <a:lnTo>
                  <a:pt x="1788388" y="32456"/>
                </a:lnTo>
                <a:lnTo>
                  <a:pt x="1749338" y="48296"/>
                </a:lnTo>
                <a:lnTo>
                  <a:pt x="1717781" y="66930"/>
                </a:lnTo>
                <a:lnTo>
                  <a:pt x="2885399" y="66930"/>
                </a:lnTo>
                <a:lnTo>
                  <a:pt x="2849698" y="48378"/>
                </a:lnTo>
                <a:lnTo>
                  <a:pt x="2847291" y="47499"/>
                </a:lnTo>
                <a:lnTo>
                  <a:pt x="2281407" y="47499"/>
                </a:lnTo>
                <a:lnTo>
                  <a:pt x="2256640" y="36988"/>
                </a:lnTo>
                <a:lnTo>
                  <a:pt x="2198200" y="19442"/>
                </a:lnTo>
                <a:lnTo>
                  <a:pt x="2109058" y="4604"/>
                </a:lnTo>
                <a:lnTo>
                  <a:pt x="2051664" y="490"/>
                </a:lnTo>
                <a:lnTo>
                  <a:pt x="1994161" y="81"/>
                </a:lnTo>
                <a:close/>
              </a:path>
              <a:path w="3303904" h="881379">
                <a:moveTo>
                  <a:pt x="2559931" y="0"/>
                </a:moveTo>
                <a:lnTo>
                  <a:pt x="2508331" y="1540"/>
                </a:lnTo>
                <a:lnTo>
                  <a:pt x="2457724" y="5663"/>
                </a:lnTo>
                <a:lnTo>
                  <a:pt x="2408919" y="12344"/>
                </a:lnTo>
                <a:lnTo>
                  <a:pt x="2362725" y="21560"/>
                </a:lnTo>
                <a:lnTo>
                  <a:pt x="2319951" y="33286"/>
                </a:lnTo>
                <a:lnTo>
                  <a:pt x="2281407" y="47499"/>
                </a:lnTo>
                <a:lnTo>
                  <a:pt x="2847291" y="47499"/>
                </a:lnTo>
                <a:lnTo>
                  <a:pt x="2804520" y="31878"/>
                </a:lnTo>
                <a:lnTo>
                  <a:pt x="2760087" y="20145"/>
                </a:lnTo>
                <a:lnTo>
                  <a:pt x="2712603" y="11114"/>
                </a:lnTo>
                <a:lnTo>
                  <a:pt x="2662876" y="4763"/>
                </a:lnTo>
                <a:lnTo>
                  <a:pt x="2611716" y="1066"/>
                </a:lnTo>
                <a:lnTo>
                  <a:pt x="2559931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31333" y="5049265"/>
            <a:ext cx="48895" cy="48895"/>
          </a:xfrm>
          <a:custGeom>
            <a:avLst/>
            <a:gdLst/>
            <a:ahLst/>
            <a:cxnLst/>
            <a:rect l="l" t="t" r="r" b="b"/>
            <a:pathLst>
              <a:path w="48895" h="48895">
                <a:moveTo>
                  <a:pt x="24511" y="0"/>
                </a:moveTo>
                <a:lnTo>
                  <a:pt x="14948" y="1918"/>
                </a:lnTo>
                <a:lnTo>
                  <a:pt x="7159" y="7159"/>
                </a:lnTo>
                <a:lnTo>
                  <a:pt x="1918" y="14948"/>
                </a:lnTo>
                <a:lnTo>
                  <a:pt x="0" y="24510"/>
                </a:lnTo>
                <a:lnTo>
                  <a:pt x="1918" y="34000"/>
                </a:lnTo>
                <a:lnTo>
                  <a:pt x="7159" y="41751"/>
                </a:lnTo>
                <a:lnTo>
                  <a:pt x="14948" y="46978"/>
                </a:lnTo>
                <a:lnTo>
                  <a:pt x="24511" y="48894"/>
                </a:lnTo>
                <a:lnTo>
                  <a:pt x="34000" y="46978"/>
                </a:lnTo>
                <a:lnTo>
                  <a:pt x="41751" y="41751"/>
                </a:lnTo>
                <a:lnTo>
                  <a:pt x="46978" y="34000"/>
                </a:lnTo>
                <a:lnTo>
                  <a:pt x="48894" y="24510"/>
                </a:lnTo>
                <a:lnTo>
                  <a:pt x="46978" y="14948"/>
                </a:lnTo>
                <a:lnTo>
                  <a:pt x="41751" y="7159"/>
                </a:lnTo>
                <a:lnTo>
                  <a:pt x="34000" y="1918"/>
                </a:lnTo>
                <a:lnTo>
                  <a:pt x="24511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40628" y="4957190"/>
            <a:ext cx="97790" cy="979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796915" y="4851653"/>
            <a:ext cx="146812" cy="1468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617589" y="4179570"/>
            <a:ext cx="97916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맑은 고딕"/>
                <a:cs typeface="맑은 고딕"/>
              </a:rPr>
              <a:t>나를</a:t>
            </a:r>
            <a:r>
              <a:rPr sz="1400" b="1" spc="-80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호출한</a:t>
            </a:r>
            <a:endParaRPr sz="1400">
              <a:latin typeface="맑은 고딕"/>
              <a:cs typeface="맑은 고딕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105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6139053" y="4392929"/>
            <a:ext cx="19342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맑은 고딕"/>
                <a:cs typeface="맑은 고딕"/>
              </a:rPr>
              <a:t>메서드(상위메서드)</a:t>
            </a:r>
            <a:r>
              <a:rPr sz="1400" b="1" spc="-15" dirty="0">
                <a:latin typeface="맑은 고딕"/>
                <a:cs typeface="맑은 고딕"/>
              </a:rPr>
              <a:t>한테</a:t>
            </a:r>
            <a:endParaRPr sz="1400">
              <a:latin typeface="맑은 고딕"/>
              <a:cs typeface="맑은 고딕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82892" y="4606290"/>
            <a:ext cx="14497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맑은 고딕"/>
                <a:cs typeface="맑은 고딕"/>
              </a:rPr>
              <a:t>예외처리를</a:t>
            </a:r>
            <a:r>
              <a:rPr sz="1400" b="1" spc="-8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미룸!!</a:t>
            </a:r>
            <a:endParaRPr sz="14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1113</TotalTime>
  <Words>1413</Words>
  <Application>Microsoft Office PowerPoint</Application>
  <PresentationFormat>화면 슬라이드 쇼(4:3)</PresentationFormat>
  <Paragraphs>157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20" baseType="lpstr">
      <vt:lpstr>Apple SD Gothic Neo</vt:lpstr>
      <vt:lpstr>Lato</vt:lpstr>
      <vt:lpstr>Menlo</vt:lpstr>
      <vt:lpstr>MS Gothic</vt:lpstr>
      <vt:lpstr>MS UI Gothic</vt:lpstr>
      <vt:lpstr>맑은 고딕</vt:lpstr>
      <vt:lpstr>맑은 고딕</vt:lpstr>
      <vt:lpstr>Calibri</vt:lpstr>
      <vt:lpstr>Calibri Light</vt:lpstr>
      <vt:lpstr>Consolas</vt:lpstr>
      <vt:lpstr>Times New Roman</vt:lpstr>
      <vt:lpstr>Office Theme</vt:lpstr>
      <vt:lpstr>Section 01</vt:lpstr>
      <vt:lpstr>예외와 에러</vt:lpstr>
      <vt:lpstr>다양한 예외의 발생</vt:lpstr>
      <vt:lpstr>예외처리 구문 try</vt:lpstr>
      <vt:lpstr>실습예제</vt:lpstr>
      <vt:lpstr>catch 처리 순서</vt:lpstr>
      <vt:lpstr>비체크 예외와 체크 예외</vt:lpstr>
      <vt:lpstr>체크 예외의 2가지 처리방법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강환수</dc:creator>
  <cp:lastModifiedBy>user</cp:lastModifiedBy>
  <cp:revision>83</cp:revision>
  <dcterms:created xsi:type="dcterms:W3CDTF">2020-11-18T07:53:40Z</dcterms:created>
  <dcterms:modified xsi:type="dcterms:W3CDTF">2020-11-25T10:25:21Z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2020-11-16T00:00:00Z</vt:filetime>
  </property>
  <property fmtid="{D5CDD505-2E9C-101B-9397-08002B2CF9AE}" pid="3" name="Creator">
    <vt:lpwstr>Microsoft® PowerPoint® Microsoft 365용</vt:lpwstr>
  </property>
  <property fmtid="{D5CDD505-2E9C-101B-9397-08002B2CF9AE}" pid="4" name="LastSaved">
    <vt:filetime>2020-11-18T00:00:00Z</vt:filetime>
  </property>
</Properties>
</file>